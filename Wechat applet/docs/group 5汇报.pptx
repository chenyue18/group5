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63" r:id="rId5"/>
    <p:sldId id="319" r:id="rId6"/>
    <p:sldId id="320" r:id="rId7"/>
    <p:sldId id="270" r:id="rId8"/>
    <p:sldId id="321" r:id="rId9"/>
    <p:sldId id="322" r:id="rId10"/>
    <p:sldId id="301" r:id="rId11"/>
    <p:sldId id="323" r:id="rId12"/>
    <p:sldId id="303" r:id="rId14"/>
    <p:sldId id="305" r:id="rId15"/>
    <p:sldId id="304" r:id="rId16"/>
    <p:sldId id="318" r:id="rId17"/>
    <p:sldId id="317" r:id="rId18"/>
    <p:sldId id="294" r:id="rId19"/>
  </p:sldIdLst>
  <p:sldSz cx="12179300" cy="6858000"/>
  <p:notesSz cx="6858000" cy="9144000"/>
  <p:custDataLst>
    <p:tags r:id="rId2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>
      <p:cViewPr varScale="1">
        <p:scale>
          <a:sx n="107" d="100"/>
          <a:sy n="107" d="100"/>
        </p:scale>
        <p:origin x="92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413" y="1122363"/>
            <a:ext cx="913447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2413" y="3602038"/>
            <a:ext cx="91344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263" y="1709738"/>
            <a:ext cx="1050607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0263" y="4589463"/>
            <a:ext cx="105060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6613" y="1825625"/>
            <a:ext cx="5176837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65850" y="1825625"/>
            <a:ext cx="5176838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607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1681163"/>
            <a:ext cx="51530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8200" y="2505075"/>
            <a:ext cx="515302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65850" y="1681163"/>
            <a:ext cx="51784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65850" y="2505075"/>
            <a:ext cx="517842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2906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78425" y="987425"/>
            <a:ext cx="61658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57400"/>
            <a:ext cx="392906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2906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78425" y="987425"/>
            <a:ext cx="61658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57400"/>
            <a:ext cx="392906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16963" y="365125"/>
            <a:ext cx="262572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6613" y="365125"/>
            <a:ext cx="772795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66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3838" y="6356350"/>
            <a:ext cx="411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1075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Relationship Id="rId3" Type="http://schemas.openxmlformats.org/officeDocument/2006/relationships/tags" Target="../tags/tag3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等腰三角形 23"/>
          <p:cNvSpPr/>
          <p:nvPr/>
        </p:nvSpPr>
        <p:spPr>
          <a:xfrm rot="512239">
            <a:off x="2950001" y="4001625"/>
            <a:ext cx="396046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2" name="等腰三角形 24"/>
          <p:cNvSpPr/>
          <p:nvPr/>
        </p:nvSpPr>
        <p:spPr>
          <a:xfrm rot="20371609">
            <a:off x="2705229" y="3831593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3" name="等腰三角形 26"/>
          <p:cNvSpPr/>
          <p:nvPr/>
        </p:nvSpPr>
        <p:spPr>
          <a:xfrm rot="3761573">
            <a:off x="8496747" y="3872262"/>
            <a:ext cx="741201" cy="508375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16" name="组合 1"/>
          <p:cNvGrpSpPr/>
          <p:nvPr/>
        </p:nvGrpSpPr>
        <p:grpSpPr>
          <a:xfrm>
            <a:off x="-1604504" y="2147666"/>
            <a:ext cx="3687215" cy="2719713"/>
            <a:chOff x="0" y="0"/>
            <a:chExt cx="3687214" cy="2719712"/>
          </a:xfrm>
        </p:grpSpPr>
        <p:sp>
          <p:nvSpPr>
            <p:cNvPr id="214" name="直接连接符 33"/>
            <p:cNvSpPr/>
            <p:nvPr/>
          </p:nvSpPr>
          <p:spPr>
            <a:xfrm flipH="1">
              <a:off x="0" y="539955"/>
              <a:ext cx="2592288" cy="2179757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直接连接符 34"/>
            <p:cNvSpPr/>
            <p:nvPr/>
          </p:nvSpPr>
          <p:spPr>
            <a:xfrm flipH="1">
              <a:off x="1094926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17" name="TextBox 5"/>
          <p:cNvSpPr txBox="1"/>
          <p:nvPr/>
        </p:nvSpPr>
        <p:spPr>
          <a:xfrm>
            <a:off x="3982496" y="3056616"/>
            <a:ext cx="3876061" cy="17532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/>
            <a:r>
              <a:rPr lang="en-US" altLang="zh-CN" sz="5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find &amp; fun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/>
            <a:endParaRPr lang="zh-CN" altLang="en-US" sz="5400" b="1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8" name="等腰三角形 14"/>
          <p:cNvSpPr/>
          <p:nvPr/>
        </p:nvSpPr>
        <p:spPr>
          <a:xfrm rot="512239">
            <a:off x="5834793" y="1926194"/>
            <a:ext cx="396045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9" name="等腰三角形 20"/>
          <p:cNvSpPr/>
          <p:nvPr/>
        </p:nvSpPr>
        <p:spPr>
          <a:xfrm rot="20371609">
            <a:off x="6486079" y="2194279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0" name="等腰三角形 21"/>
          <p:cNvSpPr/>
          <p:nvPr/>
        </p:nvSpPr>
        <p:spPr>
          <a:xfrm rot="20371609">
            <a:off x="5390053" y="2222523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1" name="等腰三角形 22"/>
          <p:cNvSpPr/>
          <p:nvPr/>
        </p:nvSpPr>
        <p:spPr>
          <a:xfrm rot="3761573">
            <a:off x="4756821" y="1830713"/>
            <a:ext cx="741200" cy="508376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2" name="等腰三角形 25"/>
          <p:cNvSpPr/>
          <p:nvPr/>
        </p:nvSpPr>
        <p:spPr>
          <a:xfrm rot="20371609">
            <a:off x="6476787" y="1810735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25" name="圆角矩形 29"/>
          <p:cNvGrpSpPr/>
          <p:nvPr/>
        </p:nvGrpSpPr>
        <p:grpSpPr>
          <a:xfrm>
            <a:off x="4871070" y="4711651"/>
            <a:ext cx="1944218" cy="432050"/>
            <a:chOff x="0" y="0"/>
            <a:chExt cx="1944217" cy="432048"/>
          </a:xfrm>
        </p:grpSpPr>
        <p:sp>
          <p:nvSpPr>
            <p:cNvPr id="223" name="圆角矩形"/>
            <p:cNvSpPr/>
            <p:nvPr/>
          </p:nvSpPr>
          <p:spPr>
            <a:xfrm>
              <a:off x="0" y="0"/>
              <a:ext cx="1944217" cy="43204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请输入你的内容"/>
            <p:cNvSpPr txBox="1"/>
            <p:nvPr/>
          </p:nvSpPr>
          <p:spPr>
            <a:xfrm>
              <a:off x="21090" y="32510"/>
              <a:ext cx="1902036" cy="367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汉仪大圣体简"/>
                  <a:ea typeface="汉仪大圣体简"/>
                  <a:cs typeface="汉仪大圣体简"/>
                  <a:sym typeface="汉仪大圣体简"/>
                </a:defRPr>
              </a:lvl1pPr>
            </a:lstStyle>
            <a:p>
              <a:r>
                <a:rPr lang="en-US" altLang="zh-CN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Group 5</a:t>
              </a:r>
              <a:endParaRPr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28" name="组合 37"/>
          <p:cNvGrpSpPr/>
          <p:nvPr/>
        </p:nvGrpSpPr>
        <p:grpSpPr>
          <a:xfrm>
            <a:off x="3671693" y="2291954"/>
            <a:ext cx="360042" cy="2602152"/>
            <a:chOff x="0" y="0"/>
            <a:chExt cx="360040" cy="2602150"/>
          </a:xfrm>
        </p:grpSpPr>
        <p:sp>
          <p:nvSpPr>
            <p:cNvPr id="226" name="左中括号 35"/>
            <p:cNvSpPr/>
            <p:nvPr/>
          </p:nvSpPr>
          <p:spPr>
            <a:xfrm>
              <a:off x="94165" y="91522"/>
              <a:ext cx="265875" cy="2423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512"/>
                    <a:pt x="0" y="21403"/>
                  </a:cubicBezTo>
                  <a:lnTo>
                    <a:pt x="0" y="197"/>
                  </a:lnTo>
                  <a:cubicBezTo>
                    <a:pt x="0" y="88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左中括号 36"/>
            <p:cNvSpPr/>
            <p:nvPr/>
          </p:nvSpPr>
          <p:spPr>
            <a:xfrm>
              <a:off x="-1" y="-1"/>
              <a:ext cx="360041" cy="260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489"/>
                    <a:pt x="0" y="21351"/>
                  </a:cubicBezTo>
                  <a:lnTo>
                    <a:pt x="0" y="249"/>
                  </a:lnTo>
                  <a:cubicBezTo>
                    <a:pt x="0" y="111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1" name="组合 38"/>
          <p:cNvGrpSpPr/>
          <p:nvPr/>
        </p:nvGrpSpPr>
        <p:grpSpPr>
          <a:xfrm>
            <a:off x="7548071" y="2295036"/>
            <a:ext cx="360041" cy="2602152"/>
            <a:chOff x="0" y="0"/>
            <a:chExt cx="360040" cy="2602150"/>
          </a:xfrm>
        </p:grpSpPr>
        <p:sp>
          <p:nvSpPr>
            <p:cNvPr id="229" name="左中括号 39"/>
            <p:cNvSpPr/>
            <p:nvPr/>
          </p:nvSpPr>
          <p:spPr>
            <a:xfrm flipH="1">
              <a:off x="0" y="91522"/>
              <a:ext cx="265875" cy="2423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512"/>
                    <a:pt x="0" y="21403"/>
                  </a:cubicBezTo>
                  <a:lnTo>
                    <a:pt x="0" y="197"/>
                  </a:lnTo>
                  <a:cubicBezTo>
                    <a:pt x="0" y="88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左中括号 40"/>
            <p:cNvSpPr/>
            <p:nvPr/>
          </p:nvSpPr>
          <p:spPr>
            <a:xfrm flipH="1">
              <a:off x="0" y="0"/>
              <a:ext cx="360041" cy="260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489"/>
                    <a:pt x="0" y="21351"/>
                  </a:cubicBezTo>
                  <a:lnTo>
                    <a:pt x="0" y="249"/>
                  </a:lnTo>
                  <a:cubicBezTo>
                    <a:pt x="0" y="111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4" name="组合 2"/>
          <p:cNvGrpSpPr/>
          <p:nvPr/>
        </p:nvGrpSpPr>
        <p:grpSpPr>
          <a:xfrm>
            <a:off x="10311837" y="1544375"/>
            <a:ext cx="3230038" cy="3097814"/>
            <a:chOff x="0" y="0"/>
            <a:chExt cx="3230037" cy="3097813"/>
          </a:xfrm>
        </p:grpSpPr>
        <p:sp>
          <p:nvSpPr>
            <p:cNvPr id="232" name="直接连接符 41"/>
            <p:cNvSpPr/>
            <p:nvPr/>
          </p:nvSpPr>
          <p:spPr>
            <a:xfrm flipH="1">
              <a:off x="0" y="918056"/>
              <a:ext cx="2592289" cy="2179757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直接连接符 42"/>
            <p:cNvSpPr/>
            <p:nvPr/>
          </p:nvSpPr>
          <p:spPr>
            <a:xfrm flipH="1">
              <a:off x="637749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5" name="等腰三角形 43"/>
          <p:cNvSpPr/>
          <p:nvPr/>
        </p:nvSpPr>
        <p:spPr>
          <a:xfrm rot="20371609">
            <a:off x="8890947" y="3709642"/>
            <a:ext cx="198023" cy="170708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组合 3"/>
          <p:cNvGrpSpPr/>
          <p:nvPr/>
        </p:nvGrpSpPr>
        <p:grpSpPr>
          <a:xfrm>
            <a:off x="945210" y="1749257"/>
            <a:ext cx="1105803" cy="815647"/>
            <a:chOff x="0" y="0"/>
            <a:chExt cx="1105801" cy="815645"/>
          </a:xfrm>
        </p:grpSpPr>
        <p:sp>
          <p:nvSpPr>
            <p:cNvPr id="237" name="直接连接符 1"/>
            <p:cNvSpPr/>
            <p:nvPr/>
          </p:nvSpPr>
          <p:spPr>
            <a:xfrm flipH="1">
              <a:off x="0" y="161933"/>
              <a:ext cx="777432" cy="653713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直接连接符 2"/>
            <p:cNvSpPr/>
            <p:nvPr/>
          </p:nvSpPr>
          <p:spPr>
            <a:xfrm flipH="1">
              <a:off x="328370" y="0"/>
              <a:ext cx="777432" cy="653713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42" name="组合 4"/>
          <p:cNvGrpSpPr/>
          <p:nvPr/>
        </p:nvGrpSpPr>
        <p:grpSpPr>
          <a:xfrm>
            <a:off x="1270669" y="4341546"/>
            <a:ext cx="1105803" cy="815646"/>
            <a:chOff x="0" y="0"/>
            <a:chExt cx="1105801" cy="815645"/>
          </a:xfrm>
        </p:grpSpPr>
        <p:sp>
          <p:nvSpPr>
            <p:cNvPr id="240" name="直接连接符 5"/>
            <p:cNvSpPr/>
            <p:nvPr/>
          </p:nvSpPr>
          <p:spPr>
            <a:xfrm flipV="1">
              <a:off x="328370" y="-1"/>
              <a:ext cx="777432" cy="653714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直接连接符 6"/>
            <p:cNvSpPr/>
            <p:nvPr/>
          </p:nvSpPr>
          <p:spPr>
            <a:xfrm flipV="1">
              <a:off x="0" y="161933"/>
              <a:ext cx="777432" cy="653713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3" name="TextBox 8"/>
          <p:cNvSpPr txBox="1"/>
          <p:nvPr/>
        </p:nvSpPr>
        <p:spPr>
          <a:xfrm>
            <a:off x="1719267" y="2492896"/>
            <a:ext cx="323163" cy="13609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lnSpc>
                <a:spcPct val="250000"/>
              </a:lnSpc>
            </a:pPr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目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录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244" name="矩形 10"/>
          <p:cNvSpPr txBox="1"/>
          <p:nvPr/>
        </p:nvSpPr>
        <p:spPr>
          <a:xfrm>
            <a:off x="1261668" y="3329697"/>
            <a:ext cx="225027" cy="13234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CONTENTS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51" name="组合 32"/>
          <p:cNvGrpSpPr/>
          <p:nvPr/>
        </p:nvGrpSpPr>
        <p:grpSpPr>
          <a:xfrm>
            <a:off x="4361725" y="963133"/>
            <a:ext cx="2540597" cy="545327"/>
            <a:chOff x="-1" y="-20481"/>
            <a:chExt cx="1601603" cy="545327"/>
          </a:xfrm>
        </p:grpSpPr>
        <p:sp>
          <p:nvSpPr>
            <p:cNvPr id="245" name="TextBox 12"/>
            <p:cNvSpPr txBox="1"/>
            <p:nvPr/>
          </p:nvSpPr>
          <p:spPr>
            <a:xfrm>
              <a:off x="156253" y="-20481"/>
              <a:ext cx="292707" cy="523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rPr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1</a:t>
              </a:r>
              <a:endParaRPr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48" name="组合 14"/>
            <p:cNvGrpSpPr/>
            <p:nvPr/>
          </p:nvGrpSpPr>
          <p:grpSpPr>
            <a:xfrm>
              <a:off x="-1" y="-1"/>
              <a:ext cx="504058" cy="488792"/>
              <a:chOff x="0" y="0"/>
              <a:chExt cx="504056" cy="488790"/>
            </a:xfrm>
          </p:grpSpPr>
          <p:sp>
            <p:nvSpPr>
              <p:cNvPr id="246" name="左中括号 11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n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7" name="左中括号 13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49" name="TextBox 15"/>
            <p:cNvSpPr txBox="1"/>
            <p:nvPr/>
          </p:nvSpPr>
          <p:spPr>
            <a:xfrm>
              <a:off x="648072" y="4146"/>
              <a:ext cx="953530" cy="520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/>
                  <a:sym typeface="Times New Roman" panose="02020603050405020304" pitchFamily="18" charset="0"/>
                </a:rPr>
                <a:t>设计理念</a:t>
              </a:r>
              <a:endPara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65" name="组合 34"/>
          <p:cNvGrpSpPr/>
          <p:nvPr/>
        </p:nvGrpSpPr>
        <p:grpSpPr>
          <a:xfrm>
            <a:off x="4361723" y="2063050"/>
            <a:ext cx="2540598" cy="529285"/>
            <a:chOff x="-1" y="-4439"/>
            <a:chExt cx="1601604" cy="529284"/>
          </a:xfrm>
        </p:grpSpPr>
        <p:sp>
          <p:nvSpPr>
            <p:cNvPr id="259" name="TextBox 26"/>
            <p:cNvSpPr txBox="1"/>
            <p:nvPr/>
          </p:nvSpPr>
          <p:spPr>
            <a:xfrm>
              <a:off x="156253" y="-4439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62" name="组合 27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260" name="左中括号 28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1" name="左中括号 29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63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/>
                  <a:sym typeface="Times New Roman" panose="02020603050405020304" pitchFamily="18" charset="0"/>
                </a:rPr>
                <a:t>竞品分析</a:t>
              </a:r>
              <a:endPara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/>
                <a:sym typeface="Times New Roman" panose="02020603050405020304" pitchFamily="18" charset="0"/>
              </a:endParaRPr>
            </a:p>
          </p:txBody>
        </p:sp>
      </p:grpSp>
      <p:sp>
        <p:nvSpPr>
          <p:cNvPr id="266" name="直接连接符 35"/>
          <p:cNvSpPr/>
          <p:nvPr/>
        </p:nvSpPr>
        <p:spPr>
          <a:xfrm flipH="1">
            <a:off x="8857297" y="764704"/>
            <a:ext cx="777433" cy="653713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7" name="直接连接符 36"/>
          <p:cNvSpPr/>
          <p:nvPr/>
        </p:nvSpPr>
        <p:spPr>
          <a:xfrm flipH="1">
            <a:off x="8255445" y="2921424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8" name="直接连接符 38"/>
          <p:cNvSpPr/>
          <p:nvPr/>
        </p:nvSpPr>
        <p:spPr>
          <a:xfrm flipH="1">
            <a:off x="10631709" y="5314403"/>
            <a:ext cx="388717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9" name="直接连接符 39"/>
          <p:cNvSpPr/>
          <p:nvPr/>
        </p:nvSpPr>
        <p:spPr>
          <a:xfrm flipH="1">
            <a:off x="9593077" y="3537213"/>
            <a:ext cx="777433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76" name="组合 37"/>
          <p:cNvGrpSpPr/>
          <p:nvPr/>
        </p:nvGrpSpPr>
        <p:grpSpPr>
          <a:xfrm>
            <a:off x="4355972" y="3167051"/>
            <a:ext cx="2540598" cy="529286"/>
            <a:chOff x="-1" y="-4440"/>
            <a:chExt cx="1601604" cy="529285"/>
          </a:xfrm>
        </p:grpSpPr>
        <p:sp>
          <p:nvSpPr>
            <p:cNvPr id="270" name="TextBox 26"/>
            <p:cNvSpPr txBox="1"/>
            <p:nvPr/>
          </p:nvSpPr>
          <p:spPr>
            <a:xfrm>
              <a:off x="156253" y="-4440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73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271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2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74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关键技术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2" name="组合 37"/>
          <p:cNvGrpSpPr/>
          <p:nvPr/>
        </p:nvGrpSpPr>
        <p:grpSpPr>
          <a:xfrm>
            <a:off x="4355970" y="4259512"/>
            <a:ext cx="2540598" cy="545327"/>
            <a:chOff x="-1" y="-20481"/>
            <a:chExt cx="1601604" cy="545326"/>
          </a:xfrm>
        </p:grpSpPr>
        <p:sp>
          <p:nvSpPr>
            <p:cNvPr id="43" name="TextBox 26"/>
            <p:cNvSpPr txBox="1"/>
            <p:nvPr/>
          </p:nvSpPr>
          <p:spPr>
            <a:xfrm>
              <a:off x="166366" y="-20481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4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44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46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7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系统演示</a:t>
              </a:r>
              <a:endParaRPr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355968" y="5340895"/>
            <a:ext cx="2540598" cy="545327"/>
            <a:chOff x="-1" y="-20481"/>
            <a:chExt cx="1601604" cy="545326"/>
          </a:xfrm>
        </p:grpSpPr>
        <p:sp>
          <p:nvSpPr>
            <p:cNvPr id="39" name="TextBox 26"/>
            <p:cNvSpPr txBox="1"/>
            <p:nvPr/>
          </p:nvSpPr>
          <p:spPr>
            <a:xfrm>
              <a:off x="166366" y="-20481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40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48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9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41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未来展望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8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9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0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1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2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3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4" name="TextBox 27"/>
          <p:cNvSpPr txBox="1"/>
          <p:nvPr/>
        </p:nvSpPr>
        <p:spPr>
          <a:xfrm>
            <a:off x="6517943" y="2977599"/>
            <a:ext cx="2274570" cy="7067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设计理念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5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6" name="直接连接符 33"/>
          <p:cNvSpPr/>
          <p:nvPr/>
        </p:nvSpPr>
        <p:spPr>
          <a:xfrm flipH="1">
            <a:off x="8670509" y="3585222"/>
            <a:ext cx="521638" cy="47427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7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8" name="直接连接符 36"/>
          <p:cNvSpPr/>
          <p:nvPr/>
        </p:nvSpPr>
        <p:spPr>
          <a:xfrm flipH="1">
            <a:off x="6167970" y="3585222"/>
            <a:ext cx="629167" cy="474277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组合 17"/>
          <p:cNvGrpSpPr/>
          <p:nvPr/>
        </p:nvGrpSpPr>
        <p:grpSpPr>
          <a:xfrm>
            <a:off x="1054899" y="1363828"/>
            <a:ext cx="10099314" cy="4402736"/>
            <a:chOff x="0" y="0"/>
            <a:chExt cx="10109843" cy="4407325"/>
          </a:xfrm>
        </p:grpSpPr>
        <p:sp>
          <p:nvSpPr>
            <p:cNvPr id="238" name="矩形 15"/>
            <p:cNvSpPr/>
            <p:nvPr/>
          </p:nvSpPr>
          <p:spPr>
            <a:xfrm>
              <a:off x="-1" y="-1"/>
              <a:ext cx="10080315" cy="4407327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9" name="矩形 16"/>
            <p:cNvSpPr/>
            <p:nvPr/>
          </p:nvSpPr>
          <p:spPr>
            <a:xfrm>
              <a:off x="180000" y="0"/>
              <a:ext cx="9929844" cy="422732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1" name="矩形 3"/>
          <p:cNvSpPr txBox="1"/>
          <p:nvPr/>
        </p:nvSpPr>
        <p:spPr>
          <a:xfrm>
            <a:off x="5190666" y="2783513"/>
            <a:ext cx="5574345" cy="307648"/>
          </a:xfrm>
          <a:prstGeom prst="rect">
            <a:avLst/>
          </a:prstGeom>
          <a:ln w="12700">
            <a:miter lim="400000"/>
          </a:ln>
        </p:spPr>
        <p:txBody>
          <a:bodyPr lIns="45671" rIns="45671">
            <a:spAutoFit/>
          </a:bodyPr>
          <a:lstStyle>
            <a:lvl1pPr algn="just">
              <a:defRPr sz="1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sz="1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2" name="文本框 5"/>
          <p:cNvSpPr txBox="1"/>
          <p:nvPr/>
        </p:nvSpPr>
        <p:spPr>
          <a:xfrm>
            <a:off x="5362847" y="621587"/>
            <a:ext cx="2517297" cy="583718"/>
          </a:xfrm>
          <a:prstGeom prst="rect">
            <a:avLst/>
          </a:prstGeom>
          <a:ln w="12700">
            <a:miter lim="400000"/>
          </a:ln>
        </p:spPr>
        <p:txBody>
          <a:bodyPr lIns="45671" rIns="45671">
            <a:spAutoFit/>
          </a:bodyPr>
          <a:lstStyle>
            <a:lvl1pPr>
              <a:defRPr sz="3200" spc="600">
                <a:solidFill>
                  <a:srgbClr val="0D0D0D"/>
                </a:solidFill>
                <a:latin typeface="迷你简汉真广标"/>
                <a:ea typeface="迷你简汉真广标"/>
                <a:cs typeface="迷你简汉真广标"/>
                <a:sym typeface="迷你简汉真广标"/>
              </a:defRPr>
            </a:lvl1pPr>
          </a:lstStyle>
          <a:p>
            <a:r>
              <a:rPr lang="en-US" sz="3195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STORY</a:t>
            </a:r>
            <a:endParaRPr sz="3195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45" name="组合 14"/>
          <p:cNvGrpSpPr/>
          <p:nvPr/>
        </p:nvGrpSpPr>
        <p:grpSpPr>
          <a:xfrm>
            <a:off x="4111712" y="1237001"/>
            <a:ext cx="3955876" cy="45672"/>
            <a:chOff x="0" y="0"/>
            <a:chExt cx="3960000" cy="45718"/>
          </a:xfrm>
        </p:grpSpPr>
        <p:sp>
          <p:nvSpPr>
            <p:cNvPr id="243" name="直接连接符 7"/>
            <p:cNvSpPr/>
            <p:nvPr/>
          </p:nvSpPr>
          <p:spPr>
            <a:xfrm>
              <a:off x="-1" y="22858"/>
              <a:ext cx="3960001" cy="1"/>
            </a:xfrm>
            <a:prstGeom prst="line">
              <a:avLst/>
            </a:prstGeom>
            <a:noFill/>
            <a:ln w="6350" cap="flat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wrap="square" lIns="45671" tIns="45671" rIns="45671" bIns="45671" numCol="1" anchor="t">
              <a:noAutofit/>
            </a:bodyPr>
            <a:lstStyle/>
            <a:p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4" name="矩形 8"/>
            <p:cNvSpPr/>
            <p:nvPr/>
          </p:nvSpPr>
          <p:spPr>
            <a:xfrm>
              <a:off x="1260000" y="0"/>
              <a:ext cx="1440001" cy="45719"/>
            </a:xfrm>
            <a:prstGeom prst="rect">
              <a:avLst/>
            </a:prstGeom>
            <a:solidFill>
              <a:srgbClr val="0D0D0D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49" name="组合 13"/>
          <p:cNvGrpSpPr/>
          <p:nvPr/>
        </p:nvGrpSpPr>
        <p:grpSpPr>
          <a:xfrm>
            <a:off x="5883465" y="6306001"/>
            <a:ext cx="412371" cy="107888"/>
            <a:chOff x="0" y="0"/>
            <a:chExt cx="412800" cy="107999"/>
          </a:xfrm>
        </p:grpSpPr>
        <p:sp>
          <p:nvSpPr>
            <p:cNvPr id="246" name="椭圆 10"/>
            <p:cNvSpPr/>
            <p:nvPr/>
          </p:nvSpPr>
          <p:spPr>
            <a:xfrm>
              <a:off x="-1" y="0"/>
              <a:ext cx="108001" cy="108000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7" name="椭圆 11"/>
            <p:cNvSpPr/>
            <p:nvPr/>
          </p:nvSpPr>
          <p:spPr>
            <a:xfrm>
              <a:off x="152400" y="0"/>
              <a:ext cx="108000" cy="108000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8" name="椭圆 12"/>
            <p:cNvSpPr/>
            <p:nvPr/>
          </p:nvSpPr>
          <p:spPr>
            <a:xfrm>
              <a:off x="304800" y="0"/>
              <a:ext cx="108001" cy="108000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51" name="矩形 1"/>
          <p:cNvSpPr/>
          <p:nvPr/>
        </p:nvSpPr>
        <p:spPr>
          <a:xfrm>
            <a:off x="10625734" y="4121082"/>
            <a:ext cx="719251" cy="299948"/>
          </a:xfrm>
          <a:prstGeom prst="rect">
            <a:avLst/>
          </a:prstGeom>
          <a:solidFill>
            <a:srgbClr val="000000"/>
          </a:solidFill>
          <a:ln w="12700">
            <a:solidFill>
              <a:srgbClr val="0D0D0D"/>
            </a:solidFill>
            <a:miter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6" name="直接连接符 2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7" name="直接连接符 3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8" name="矩形 4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设计理念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19" name="左中括号 5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050" name="Picture 2" descr="Do You Want A Dog? | Engo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83" y="1842583"/>
            <a:ext cx="4017638" cy="301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/>
          <p:cNvSpPr/>
          <p:nvPr/>
        </p:nvSpPr>
        <p:spPr>
          <a:xfrm>
            <a:off x="5990254" y="-1103017"/>
            <a:ext cx="52286" cy="519348"/>
          </a:xfrm>
          <a:prstGeom prst="ellipse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052" name="Picture 4" descr="Bubbles And Empty Seats: How Each Pro Sport Plans To Come Back Amid  Pandemic : NP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043" y="2001082"/>
            <a:ext cx="1609446" cy="12070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roup Chat:Amazon.com:Appstore for Androi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373" y="3673641"/>
            <a:ext cx="650457" cy="65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微信Logo | 微信开放文档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993" y="2390273"/>
            <a:ext cx="1003385" cy="100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1,823 Stranger Illustrations &amp; Clip Art - iStock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162" y="4555957"/>
            <a:ext cx="875047" cy="87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ain Point Stamp Pain Point Round Vintage Grunge Sign Pain Point Stock  Illustration - Download Image Now - iStoc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781" y="1490628"/>
            <a:ext cx="1228057" cy="85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6"/>
          <p:cNvSpPr txBox="1"/>
          <p:nvPr/>
        </p:nvSpPr>
        <p:spPr>
          <a:xfrm>
            <a:off x="8236682" y="3724254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尴尬 没人理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TextBox 6"/>
          <p:cNvSpPr txBox="1"/>
          <p:nvPr/>
        </p:nvSpPr>
        <p:spPr>
          <a:xfrm>
            <a:off x="8165147" y="4716409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遇到奇怪的人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TextBox 6"/>
          <p:cNvSpPr txBox="1"/>
          <p:nvPr/>
        </p:nvSpPr>
        <p:spPr>
          <a:xfrm>
            <a:off x="7809865" y="2644775"/>
            <a:ext cx="2902585" cy="50673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“半熟”的人不会回复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直接连接符 2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2" name="直接连接符 3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3" name="矩形 4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设计理念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294" name="左中括号 5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239" y="2519265"/>
            <a:ext cx="1448267" cy="12404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379" y="1698171"/>
            <a:ext cx="3867072" cy="2578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307" y="1960716"/>
            <a:ext cx="1990428" cy="2146540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166911" y="4909243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体育活动管理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643050" y="4903023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半匿名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9" name="TextBox 6"/>
          <p:cNvSpPr txBox="1"/>
          <p:nvPr/>
        </p:nvSpPr>
        <p:spPr>
          <a:xfrm>
            <a:off x="9623834" y="4915463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半熟社交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设计理念</a:t>
            </a:r>
            <a:endParaRPr 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288067" y="3567433"/>
            <a:ext cx="4450729" cy="956998"/>
            <a:chOff x="1461501" y="4043702"/>
            <a:chExt cx="4450729" cy="956998"/>
          </a:xfrm>
        </p:grpSpPr>
        <p:sp>
          <p:nvSpPr>
            <p:cNvPr id="455" name="TextBox 7"/>
            <p:cNvSpPr txBox="1"/>
            <p:nvPr/>
          </p:nvSpPr>
          <p:spPr>
            <a:xfrm>
              <a:off x="1461501" y="4494189"/>
              <a:ext cx="4450729" cy="506511"/>
            </a:xfrm>
            <a:prstGeom prst="rect">
              <a:avLst/>
            </a:prstGeom>
            <a:ln w="12700">
              <a:miter lim="400000"/>
            </a:ln>
          </p:spPr>
          <p:txBody>
            <a:bodyPr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缓解</a:t>
              </a:r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社交尴尬</a:t>
              </a:r>
              <a:endParaRPr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461501" y="4043702"/>
              <a:ext cx="4270709" cy="498564"/>
              <a:chOff x="1368194" y="2572599"/>
              <a:chExt cx="4270709" cy="498564"/>
            </a:xfrm>
          </p:grpSpPr>
          <p:sp>
            <p:nvSpPr>
              <p:cNvPr id="27" name="Rectangle 80"/>
              <p:cNvSpPr txBox="1"/>
              <p:nvPr/>
            </p:nvSpPr>
            <p:spPr>
              <a:xfrm>
                <a:off x="1368194" y="2572599"/>
                <a:ext cx="2299053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匿名与双向确认机制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1644896" y="3561280"/>
            <a:ext cx="4628149" cy="963151"/>
            <a:chOff x="1461501" y="3050580"/>
            <a:chExt cx="4628149" cy="963151"/>
          </a:xfrm>
        </p:grpSpPr>
        <p:grpSp>
          <p:nvGrpSpPr>
            <p:cNvPr id="23" name="组合 22"/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24" name="Rectangle 80"/>
              <p:cNvSpPr txBox="1"/>
              <p:nvPr/>
            </p:nvSpPr>
            <p:spPr>
              <a:xfrm>
                <a:off x="1368194" y="2572599"/>
                <a:ext cx="252988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活动报名、确认与取消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9" name="TextBox 7"/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线下运动活动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约定与开展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651182" y="2289857"/>
            <a:ext cx="4628149" cy="932097"/>
            <a:chOff x="1461501" y="1942051"/>
            <a:chExt cx="4628149" cy="932097"/>
          </a:xfrm>
        </p:grpSpPr>
        <p:grpSp>
          <p:nvGrpSpPr>
            <p:cNvPr id="7" name="组合 6"/>
            <p:cNvGrpSpPr/>
            <p:nvPr/>
          </p:nvGrpSpPr>
          <p:grpSpPr>
            <a:xfrm>
              <a:off x="1461501" y="1942051"/>
              <a:ext cx="4270709" cy="498564"/>
              <a:chOff x="1368194" y="2572599"/>
              <a:chExt cx="4270709" cy="498564"/>
            </a:xfrm>
          </p:grpSpPr>
          <p:sp>
            <p:nvSpPr>
              <p:cNvPr id="454" name="Rectangle 80"/>
              <p:cNvSpPr txBox="1"/>
              <p:nvPr/>
            </p:nvSpPr>
            <p:spPr>
              <a:xfrm>
                <a:off x="1368194" y="2572599"/>
                <a:ext cx="252988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活动发布、展示与搜索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56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30" name="TextBox 7"/>
            <p:cNvSpPr txBox="1"/>
            <p:nvPr/>
          </p:nvSpPr>
          <p:spPr>
            <a:xfrm>
              <a:off x="1461501" y="2367637"/>
              <a:ext cx="4628149" cy="50651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运动活动信息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流动的平台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01350" y="5071222"/>
            <a:ext cx="2257933" cy="1286848"/>
            <a:chOff x="7672438" y="2530240"/>
            <a:chExt cx="3282539" cy="1581639"/>
          </a:xfrm>
        </p:grpSpPr>
        <p:sp>
          <p:nvSpPr>
            <p:cNvPr id="31" name="TextBox 27"/>
            <p:cNvSpPr txBox="1"/>
            <p:nvPr/>
          </p:nvSpPr>
          <p:spPr>
            <a:xfrm>
              <a:off x="8494737" y="2770252"/>
              <a:ext cx="1092605" cy="64633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>
                <a:defRPr sz="3600" spc="3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运动</a:t>
              </a:r>
              <a:endPara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" name="直接连接符 32"/>
            <p:cNvSpPr/>
            <p:nvPr/>
          </p:nvSpPr>
          <p:spPr>
            <a:xfrm flipH="1">
              <a:off x="7672438" y="2647696"/>
              <a:ext cx="388718" cy="326857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" name="直接连接符 33"/>
            <p:cNvSpPr/>
            <p:nvPr/>
          </p:nvSpPr>
          <p:spPr>
            <a:xfrm flipH="1">
              <a:off x="10300419" y="3139455"/>
              <a:ext cx="654558" cy="53433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" name="直接连接符 35"/>
            <p:cNvSpPr/>
            <p:nvPr/>
          </p:nvSpPr>
          <p:spPr>
            <a:xfrm flipH="1">
              <a:off x="10020923" y="2530240"/>
              <a:ext cx="388717" cy="3268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" name="直接连接符 36"/>
            <p:cNvSpPr/>
            <p:nvPr/>
          </p:nvSpPr>
          <p:spPr>
            <a:xfrm flipH="1">
              <a:off x="7961512" y="3577544"/>
              <a:ext cx="654558" cy="534335"/>
            </a:xfrm>
            <a:prstGeom prst="line">
              <a:avLst/>
            </a:prstGeom>
            <a:ln w="381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455261" y="5068168"/>
            <a:ext cx="2257933" cy="1286848"/>
            <a:chOff x="7672438" y="2530240"/>
            <a:chExt cx="3282539" cy="1581639"/>
          </a:xfrm>
        </p:grpSpPr>
        <p:sp>
          <p:nvSpPr>
            <p:cNvPr id="37" name="TextBox 27"/>
            <p:cNvSpPr txBox="1"/>
            <p:nvPr/>
          </p:nvSpPr>
          <p:spPr>
            <a:xfrm>
              <a:off x="8246834" y="2770252"/>
              <a:ext cx="1588409" cy="794392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>
                <a:defRPr sz="3600" spc="3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社交</a:t>
              </a:r>
              <a:endParaRPr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8" name="直接连接符 32"/>
            <p:cNvSpPr/>
            <p:nvPr/>
          </p:nvSpPr>
          <p:spPr>
            <a:xfrm flipH="1">
              <a:off x="7672438" y="2647696"/>
              <a:ext cx="388718" cy="326857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9" name="直接连接符 33"/>
            <p:cNvSpPr/>
            <p:nvPr/>
          </p:nvSpPr>
          <p:spPr>
            <a:xfrm flipH="1">
              <a:off x="10300419" y="3139455"/>
              <a:ext cx="654558" cy="53433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0" name="直接连接符 35"/>
            <p:cNvSpPr/>
            <p:nvPr/>
          </p:nvSpPr>
          <p:spPr>
            <a:xfrm flipH="1">
              <a:off x="10020923" y="2530240"/>
              <a:ext cx="388717" cy="3268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直接连接符 36"/>
            <p:cNvSpPr/>
            <p:nvPr/>
          </p:nvSpPr>
          <p:spPr>
            <a:xfrm flipH="1">
              <a:off x="7961512" y="3577544"/>
              <a:ext cx="654558" cy="534335"/>
            </a:xfrm>
            <a:prstGeom prst="line">
              <a:avLst/>
            </a:prstGeom>
            <a:ln w="381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273045" y="2292911"/>
            <a:ext cx="4628149" cy="963151"/>
            <a:chOff x="1461501" y="3050580"/>
            <a:chExt cx="4628149" cy="963151"/>
          </a:xfrm>
        </p:grpSpPr>
        <p:grpSp>
          <p:nvGrpSpPr>
            <p:cNvPr id="58" name="组合 57"/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60" name="Rectangle 80"/>
              <p:cNvSpPr txBox="1"/>
              <p:nvPr/>
            </p:nvSpPr>
            <p:spPr>
              <a:xfrm>
                <a:off x="1368194" y="2572599"/>
                <a:ext cx="1837388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即时沟通与交流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61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59" name="TextBox 7"/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沟通意向，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找到最适合的运动伙伴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62" name="矩形 3"/>
          <p:cNvSpPr txBox="1"/>
          <p:nvPr/>
        </p:nvSpPr>
        <p:spPr>
          <a:xfrm>
            <a:off x="3427383" y="1418988"/>
            <a:ext cx="5324533" cy="46166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一个具有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社交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属性的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运动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活动信息平台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8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9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0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1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2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3" name="TextBox 16"/>
          <p:cNvSpPr txBox="1"/>
          <p:nvPr/>
        </p:nvSpPr>
        <p:spPr>
          <a:xfrm>
            <a:off x="2958272" y="2074406"/>
            <a:ext cx="699770" cy="15684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4" name="TextBox 27"/>
          <p:cNvSpPr txBox="1"/>
          <p:nvPr/>
        </p:nvSpPr>
        <p:spPr>
          <a:xfrm>
            <a:off x="6517943" y="2977599"/>
            <a:ext cx="2274570" cy="7067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竞品分析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5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6" name="直接连接符 33"/>
          <p:cNvSpPr/>
          <p:nvPr/>
        </p:nvSpPr>
        <p:spPr>
          <a:xfrm flipH="1">
            <a:off x="8670509" y="3585222"/>
            <a:ext cx="521638" cy="47427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7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8" name="直接连接符 36"/>
          <p:cNvSpPr/>
          <p:nvPr/>
        </p:nvSpPr>
        <p:spPr>
          <a:xfrm flipH="1">
            <a:off x="6167970" y="3585222"/>
            <a:ext cx="629167" cy="474277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直接连接符 2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2" name="直接连接符 3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3" name="矩形 4"/>
          <p:cNvSpPr txBox="1"/>
          <p:nvPr/>
        </p:nvSpPr>
        <p:spPr>
          <a:xfrm>
            <a:off x="797872" y="611396"/>
            <a:ext cx="28714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竞品分析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清动圈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THU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294" name="左中括号 5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93000" y="1283970"/>
            <a:ext cx="2128520" cy="4634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730" y="1291590"/>
            <a:ext cx="2122170" cy="46189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095" y="1283970"/>
            <a:ext cx="2121535" cy="46189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6620" y="1289050"/>
            <a:ext cx="2131060" cy="46393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45556" y="1970649"/>
            <a:ext cx="716280" cy="506730"/>
          </a:xfrm>
          <a:prstGeom prst="rect">
            <a:avLst/>
          </a:prstGeom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kumimoji="1"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特色</a:t>
            </a:r>
            <a:endParaRPr kumimoji="1" lang="en-US" altLang="zh-CN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2295" y="2477135"/>
            <a:ext cx="21717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与校园账号绑定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丰富的个人界面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打卡功能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俱乐部活动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699770" cy="15684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50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en-US" sz="4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关键技术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/>
          <p:cNvSpPr txBox="1"/>
          <p:nvPr/>
        </p:nvSpPr>
        <p:spPr>
          <a:xfrm>
            <a:off x="797872" y="611396"/>
            <a:ext cx="3403600" cy="6451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关键技术</a:t>
            </a:r>
            <a:r>
              <a:rPr kumimoji="1" lang="en-US" altLang="zh-CN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系统架构设计</a:t>
            </a:r>
            <a:endParaRPr kumimoji="1" lang="en-US" altLang="zh-CN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b="1">
                <a:solidFill>
                  <a:srgbClr val="C00000"/>
                </a:solidFill>
              </a:defRPr>
            </a:pP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35" y="1642188"/>
            <a:ext cx="705434" cy="7054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8095" y="4910976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箭头: 右 4"/>
          <p:cNvSpPr/>
          <p:nvPr/>
        </p:nvSpPr>
        <p:spPr>
          <a:xfrm>
            <a:off x="1362269" y="2225040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72095" y="1840179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访问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58176" y="4031327"/>
            <a:ext cx="172175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小程序页面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45" y="2169623"/>
            <a:ext cx="1509018" cy="150901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151809" y="1642188"/>
            <a:ext cx="1886791" cy="3813732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34326" y="5736865"/>
            <a:ext cx="17217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前端页面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" name="箭头: 右 20"/>
          <p:cNvSpPr/>
          <p:nvPr/>
        </p:nvSpPr>
        <p:spPr>
          <a:xfrm rot="10800000">
            <a:off x="1309235" y="4560826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95591" y="4170936"/>
            <a:ext cx="110391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返回数据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35" y="4187549"/>
            <a:ext cx="705434" cy="70543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8906828" y="2910447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89650" y="1640653"/>
            <a:ext cx="5900049" cy="3813732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268" y="3474865"/>
            <a:ext cx="893834" cy="893834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838" y="3457653"/>
            <a:ext cx="893834" cy="893834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219" y="1985193"/>
            <a:ext cx="893834" cy="893834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48" y="1985193"/>
            <a:ext cx="893834" cy="893834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77" y="1969144"/>
            <a:ext cx="893834" cy="893834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8402679" y="5658386"/>
            <a:ext cx="17217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后端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914145" y="2907599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OldTask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60781" y="2912007"/>
            <a:ext cx="112891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Feedback</a:t>
            </a: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317517" y="4368699"/>
            <a:ext cx="97971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CurrentTask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514419" y="4349791"/>
            <a:ext cx="1359201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CurrentTaskApplicationsInfo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036174" y="1945547"/>
            <a:ext cx="1128919" cy="3260698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" name="箭头: 右 40"/>
          <p:cNvSpPr/>
          <p:nvPr/>
        </p:nvSpPr>
        <p:spPr>
          <a:xfrm>
            <a:off x="8277203" y="3288696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087029" y="2903835"/>
            <a:ext cx="97971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读取数据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箭头: 右 42"/>
          <p:cNvSpPr/>
          <p:nvPr/>
        </p:nvSpPr>
        <p:spPr>
          <a:xfrm rot="10800000">
            <a:off x="8251771" y="4245808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118137" y="3862573"/>
            <a:ext cx="97971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返回数据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29" y="2424801"/>
            <a:ext cx="886408" cy="886408"/>
          </a:xfrm>
          <a:prstGeom prst="rect">
            <a:avLst/>
          </a:prstGeom>
        </p:spPr>
      </p:pic>
      <p:sp>
        <p:nvSpPr>
          <p:cNvPr id="75" name="矩形 74"/>
          <p:cNvSpPr/>
          <p:nvPr/>
        </p:nvSpPr>
        <p:spPr>
          <a:xfrm>
            <a:off x="7247822" y="342317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zh-CN" altLang="en-US" dirty="0"/>
              <a:t>代码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7157429" y="4179641"/>
            <a:ext cx="929600" cy="646331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dirty="0"/>
              <a:t>实现功能逻辑</a:t>
            </a:r>
            <a:endParaRPr lang="zh-CN" altLang="en-US" dirty="0"/>
          </a:p>
        </p:txBody>
      </p:sp>
      <p:sp>
        <p:nvSpPr>
          <p:cNvPr id="77" name="箭头: 右 48"/>
          <p:cNvSpPr/>
          <p:nvPr/>
        </p:nvSpPr>
        <p:spPr>
          <a:xfrm>
            <a:off x="4379854" y="1958309"/>
            <a:ext cx="1503666" cy="281764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189680" y="158897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用户注册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箭头: 右 50"/>
          <p:cNvSpPr/>
          <p:nvPr/>
        </p:nvSpPr>
        <p:spPr>
          <a:xfrm>
            <a:off x="4414727" y="2675939"/>
            <a:ext cx="1503666" cy="281764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224553" y="230660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报名、发布任务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30176" y="302423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产生网络请求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" name="箭头: 右 53"/>
          <p:cNvSpPr/>
          <p:nvPr/>
        </p:nvSpPr>
        <p:spPr>
          <a:xfrm rot="10800000">
            <a:off x="4365566" y="4556159"/>
            <a:ext cx="1503666" cy="281764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175392" y="418682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得到数据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151499" y="4897233"/>
            <a:ext cx="198648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用户、任务等数据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29291" y="2390525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箭头: 右 59"/>
          <p:cNvSpPr/>
          <p:nvPr/>
        </p:nvSpPr>
        <p:spPr>
          <a:xfrm>
            <a:off x="6218630" y="2809662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065605" y="2432973"/>
            <a:ext cx="97971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接收请求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箭头: 右 61"/>
          <p:cNvSpPr/>
          <p:nvPr/>
        </p:nvSpPr>
        <p:spPr>
          <a:xfrm rot="10800000">
            <a:off x="6238225" y="4124613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086081" y="3747924"/>
            <a:ext cx="97971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返回数据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9" grpId="0" bldLvl="0" animBg="1"/>
      <p:bldP spid="11" grpId="0" bldLvl="0" animBg="1"/>
      <p:bldP spid="16" grpId="0" bldLvl="0" animBg="1"/>
      <p:bldP spid="19" grpId="0" bldLvl="0" animBg="1"/>
      <p:bldP spid="26" grpId="0" bldLvl="0" animBg="1"/>
      <p:bldP spid="27" grpId="0" bldLvl="0" animBg="1"/>
      <p:bldP spid="29" grpId="0" bldLvl="0" animBg="1"/>
      <p:bldP spid="35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5" grpId="0"/>
      <p:bldP spid="76" grpId="0"/>
      <p:bldP spid="77" grpId="0" bldLvl="0" animBg="1"/>
      <p:bldP spid="78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/>
          <p:cNvSpPr txBox="1"/>
          <p:nvPr/>
        </p:nvSpPr>
        <p:spPr>
          <a:xfrm>
            <a:off x="797872" y="611396"/>
            <a:ext cx="3258185" cy="6451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关键技术</a:t>
            </a:r>
            <a:r>
              <a:rPr kumimoji="1" lang="en-US" altLang="zh-CN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——IM</a:t>
            </a:r>
            <a:r>
              <a:rPr kumimoji="1" lang="zh-CN" altLang="en-US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聊天框架</a:t>
            </a:r>
            <a:endParaRPr kumimoji="1" lang="en-US" altLang="zh-CN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b="1">
                <a:solidFill>
                  <a:srgbClr val="C00000"/>
                </a:solidFill>
              </a:defRPr>
            </a:pP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0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8977" y="1463231"/>
          <a:ext cx="9416938" cy="442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8469"/>
                <a:gridCol w="4708469"/>
              </a:tblGrid>
              <a:tr h="66305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技术方案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992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不同活动中的同一用户要互相隔离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Id+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共同作为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的用户名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进行登陆，在退出详情页后及时登出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111080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详情页中聊天记录、未读消息的实时显示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</a:t>
                      </a:r>
                      <a:r>
                        <a:rPr lang="en-US" alt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监听事件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触发对应回调函数维护聊天列表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20642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在聊天页面中嵌入取匿、确认等功能并实时显示弹窗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监听</a:t>
                      </a:r>
                      <a:r>
                        <a:rPr lang="en-US" alt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中特定消息触发回调函数，更改用户昵称头像等的显示状态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699770" cy="15684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44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系统演示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系统演示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3" name="阿根廷是冠军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94120" y="611505"/>
            <a:ext cx="2844800" cy="6096000"/>
          </a:xfrm>
          <a:prstGeom prst="rect">
            <a:avLst/>
          </a:prstGeom>
        </p:spPr>
      </p:pic>
      <p:pic>
        <p:nvPicPr>
          <p:cNvPr id="4" name="图片 3" descr="最终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375" y="1930400"/>
            <a:ext cx="2997200" cy="2997200"/>
          </a:xfrm>
          <a:prstGeom prst="rect">
            <a:avLst/>
          </a:prstGeom>
        </p:spPr>
      </p:pic>
      <p:sp>
        <p:nvSpPr>
          <p:cNvPr id="24" name="Rectangle 80"/>
          <p:cNvSpPr txBox="1"/>
          <p:nvPr/>
        </p:nvSpPr>
        <p:spPr>
          <a:xfrm>
            <a:off x="2307201" y="5118300"/>
            <a:ext cx="1590040" cy="495300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>
              <a:defRPr b="1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体验版二维码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77091" y="2965038"/>
            <a:ext cx="2274570" cy="7067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未来展望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未来展望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0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63370" y="1470660"/>
          <a:ext cx="9417050" cy="4782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8525"/>
                <a:gridCol w="4708525"/>
              </a:tblGrid>
              <a:tr h="563245">
                <a:tc>
                  <a:txBody>
                    <a:bodyPr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280"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活动多样性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l"/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活动不局限于运动，可以是其他方面：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电影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桌游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聚餐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漫展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等等</a:t>
                      </a:r>
                      <a:endParaRPr lang="zh-CN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944245"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半熟人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机制实施落地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可以作为像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心声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社区的一个子模块引入，或者注册时与其他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组织账号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</a:t>
                      </a:r>
                      <a:endParaRPr lang="zh-CN" altLang="en-US" sz="1400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025525"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平台安全性保障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引入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管理员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，可以获取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实名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的发帖和报名信息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</a:tr>
              <a:tr h="10255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其他功能需求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升级</a:t>
                      </a:r>
                      <a:r>
                        <a:rPr lang="en-US" alt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系统、用户可以根据时间筛选活动、支持多个报名者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等腰三角形 23"/>
          <p:cNvSpPr/>
          <p:nvPr/>
        </p:nvSpPr>
        <p:spPr>
          <a:xfrm rot="512239">
            <a:off x="2950001" y="4001625"/>
            <a:ext cx="396046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2" name="等腰三角形 24"/>
          <p:cNvSpPr/>
          <p:nvPr/>
        </p:nvSpPr>
        <p:spPr>
          <a:xfrm rot="20371609">
            <a:off x="2705229" y="3831593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3" name="等腰三角形 26"/>
          <p:cNvSpPr/>
          <p:nvPr/>
        </p:nvSpPr>
        <p:spPr>
          <a:xfrm rot="3761573">
            <a:off x="8496747" y="3872262"/>
            <a:ext cx="741201" cy="508375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16" name="组合 1"/>
          <p:cNvGrpSpPr/>
          <p:nvPr/>
        </p:nvGrpSpPr>
        <p:grpSpPr>
          <a:xfrm>
            <a:off x="-1604504" y="2147666"/>
            <a:ext cx="3687215" cy="2719713"/>
            <a:chOff x="0" y="0"/>
            <a:chExt cx="3687214" cy="2719712"/>
          </a:xfrm>
        </p:grpSpPr>
        <p:sp>
          <p:nvSpPr>
            <p:cNvPr id="214" name="直接连接符 33"/>
            <p:cNvSpPr/>
            <p:nvPr/>
          </p:nvSpPr>
          <p:spPr>
            <a:xfrm flipH="1">
              <a:off x="0" y="539955"/>
              <a:ext cx="2592288" cy="2179757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直接连接符 34"/>
            <p:cNvSpPr/>
            <p:nvPr/>
          </p:nvSpPr>
          <p:spPr>
            <a:xfrm flipH="1">
              <a:off x="1094926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17" name="TextBox 5"/>
          <p:cNvSpPr txBox="1"/>
          <p:nvPr/>
        </p:nvSpPr>
        <p:spPr>
          <a:xfrm>
            <a:off x="3873613" y="3126404"/>
            <a:ext cx="3876061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/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谢谢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8" name="等腰三角形 14"/>
          <p:cNvSpPr/>
          <p:nvPr/>
        </p:nvSpPr>
        <p:spPr>
          <a:xfrm rot="512239">
            <a:off x="5834793" y="1926194"/>
            <a:ext cx="396045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9" name="等腰三角形 20"/>
          <p:cNvSpPr/>
          <p:nvPr/>
        </p:nvSpPr>
        <p:spPr>
          <a:xfrm rot="20371609">
            <a:off x="6486079" y="2194279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0" name="等腰三角形 21"/>
          <p:cNvSpPr/>
          <p:nvPr/>
        </p:nvSpPr>
        <p:spPr>
          <a:xfrm rot="20371609">
            <a:off x="5390053" y="2222523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1" name="等腰三角形 22"/>
          <p:cNvSpPr/>
          <p:nvPr/>
        </p:nvSpPr>
        <p:spPr>
          <a:xfrm rot="3761573">
            <a:off x="4756821" y="1830713"/>
            <a:ext cx="741200" cy="508376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2" name="等腰三角形 25"/>
          <p:cNvSpPr/>
          <p:nvPr/>
        </p:nvSpPr>
        <p:spPr>
          <a:xfrm rot="20371609">
            <a:off x="6476787" y="1810735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34" name="组合 2"/>
          <p:cNvGrpSpPr/>
          <p:nvPr/>
        </p:nvGrpSpPr>
        <p:grpSpPr>
          <a:xfrm>
            <a:off x="10311837" y="1544375"/>
            <a:ext cx="3230038" cy="3097814"/>
            <a:chOff x="0" y="0"/>
            <a:chExt cx="3230037" cy="3097813"/>
          </a:xfrm>
        </p:grpSpPr>
        <p:sp>
          <p:nvSpPr>
            <p:cNvPr id="232" name="直接连接符 41"/>
            <p:cNvSpPr/>
            <p:nvPr/>
          </p:nvSpPr>
          <p:spPr>
            <a:xfrm flipH="1">
              <a:off x="0" y="918056"/>
              <a:ext cx="2592289" cy="2179757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直接连接符 42"/>
            <p:cNvSpPr/>
            <p:nvPr/>
          </p:nvSpPr>
          <p:spPr>
            <a:xfrm flipH="1">
              <a:off x="637749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5" name="等腰三角形 43"/>
          <p:cNvSpPr/>
          <p:nvPr/>
        </p:nvSpPr>
        <p:spPr>
          <a:xfrm rot="20371609">
            <a:off x="8890947" y="3709642"/>
            <a:ext cx="198023" cy="170708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4420,&quot;width&quot;:11220}"/>
</p:tagLst>
</file>

<file path=ppt/tags/tag2.xml><?xml version="1.0" encoding="utf-8"?>
<p:tagLst xmlns:p="http://schemas.openxmlformats.org/presentationml/2006/main">
  <p:tag name="KSO_WM_UNIT_TABLE_BEAUTIFY" val="smartTable{28e85bf7-5b09-48f1-8653-39acca50cb0c}"/>
</p:tagLst>
</file>

<file path=ppt/tags/tag3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BTNRECT" val="1956*4516*566*566"/>
</p:tagLst>
</file>

<file path=ppt/tags/tag4.xml><?xml version="1.0" encoding="utf-8"?>
<p:tagLst xmlns:p="http://schemas.openxmlformats.org/presentationml/2006/main">
  <p:tag name="KSO_WM_UNIT_TABLE_BEAUTIFY" val="smartTable{28e85bf7-5b09-48f1-8653-39acca50cb0c}"/>
  <p:tag name="TABLE_ENDDRAG_ORIGIN_RECT" val="741*376"/>
  <p:tag name="TABLE_ENDDRAG_RECT" val="96*115*741*376"/>
</p:tagLst>
</file>

<file path=ppt/tags/tag5.xml><?xml version="1.0" encoding="utf-8"?>
<p:tagLst xmlns:p="http://schemas.openxmlformats.org/presentationml/2006/main">
  <p:tag name="KSO_WPP_MARK_KEY" val="84c781fa-5709-4a14-8c8f-3be00f87ab86"/>
  <p:tag name="COMMONDATA" val="eyJoZGlkIjoiODViY2JkMjU3NGYzZTEwMzZmMGFkZWViYmNkYWU3ND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WPS 演示</Application>
  <PresentationFormat>自定义</PresentationFormat>
  <Paragraphs>207</Paragraphs>
  <Slides>16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Times New Roman</vt:lpstr>
      <vt:lpstr>微软雅黑</vt:lpstr>
      <vt:lpstr>汉仪大圣体简</vt:lpstr>
      <vt:lpstr>Segoe Print</vt:lpstr>
      <vt:lpstr>Calibri</vt:lpstr>
      <vt:lpstr>微软雅黑 Light</vt:lpstr>
      <vt:lpstr>造字工房尚雅体演示版常规体</vt:lpstr>
      <vt:lpstr>Open Sans Light</vt:lpstr>
      <vt:lpstr>Arial Unicode MS</vt:lpstr>
      <vt:lpstr>等线 Light</vt:lpstr>
      <vt:lpstr>等线</vt:lpstr>
      <vt:lpstr>迷你简汉真广标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2018011516</cp:lastModifiedBy>
  <cp:revision>61</cp:revision>
  <dcterms:created xsi:type="dcterms:W3CDTF">2021-12-08T11:09:00Z</dcterms:created>
  <dcterms:modified xsi:type="dcterms:W3CDTF">2022-12-18T19:03:48Z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044A2BB5125C4311A160979BCF22D06F</vt:lpwstr>
  </property>
  <property fmtid="{D5CDD505-2E9C-101B-9397-08002B2CF9AE}" pid="3" name="KSOProductBuildVer">
    <vt:lpwstr>2052-11.1.0.12763</vt:lpwstr>
  </property>
</Properties>
</file>