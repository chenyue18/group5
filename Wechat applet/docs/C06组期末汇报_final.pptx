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3" r:id="rId4"/>
    <p:sldId id="292" r:id="rId5"/>
    <p:sldId id="293" r:id="rId6"/>
    <p:sldId id="300" r:id="rId7"/>
    <p:sldId id="301" r:id="rId8"/>
    <p:sldId id="303" r:id="rId9"/>
    <p:sldId id="306" r:id="rId10"/>
    <p:sldId id="283" r:id="rId11"/>
    <p:sldId id="270" r:id="rId12"/>
    <p:sldId id="295" r:id="rId13"/>
    <p:sldId id="296" r:id="rId14"/>
    <p:sldId id="297" r:id="rId15"/>
    <p:sldId id="299" r:id="rId16"/>
    <p:sldId id="305" r:id="rId17"/>
    <p:sldId id="304" r:id="rId18"/>
    <p:sldId id="294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2"/>
  </p:normalViewPr>
  <p:slideViewPr>
    <p:cSldViewPr snapToGrid="0">
      <p:cViewPr varScale="1">
        <p:scale>
          <a:sx n="107" d="100"/>
          <a:sy n="107" d="100"/>
        </p:scale>
        <p:origin x="92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9" name="Shape 20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461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4783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413" y="1122363"/>
            <a:ext cx="913447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2413" y="3602038"/>
            <a:ext cx="913447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0263" y="1709738"/>
            <a:ext cx="1050607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0263" y="4589463"/>
            <a:ext cx="1050607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6613" y="1825625"/>
            <a:ext cx="5176837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65850" y="1825625"/>
            <a:ext cx="5176838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607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1681163"/>
            <a:ext cx="51530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8200" y="2505075"/>
            <a:ext cx="5153025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65850" y="1681163"/>
            <a:ext cx="51784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65850" y="2505075"/>
            <a:ext cx="5178425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392906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78425" y="987425"/>
            <a:ext cx="61658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2057400"/>
            <a:ext cx="392906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392906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78425" y="987425"/>
            <a:ext cx="61658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2057400"/>
            <a:ext cx="392906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16963" y="365125"/>
            <a:ext cx="262572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6613" y="365125"/>
            <a:ext cx="772795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6613" y="365125"/>
            <a:ext cx="10506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6613" y="1825625"/>
            <a:ext cx="10506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66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DA2CB-8C68-46A2-B542-542BBA352A29}" type="datetimeFigureOut">
              <a:rPr lang="zh-CN" altLang="en-US" smtClean="0"/>
              <a:t>2021/12/23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3838" y="6356350"/>
            <a:ext cx="4111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1075" y="6356350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27CDA-27BE-43F4-AEA8-375D93830D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等腰三角形 23"/>
          <p:cNvSpPr/>
          <p:nvPr/>
        </p:nvSpPr>
        <p:spPr>
          <a:xfrm rot="512239">
            <a:off x="2950001" y="4001625"/>
            <a:ext cx="396046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2" name="等腰三角形 24"/>
          <p:cNvSpPr/>
          <p:nvPr/>
        </p:nvSpPr>
        <p:spPr>
          <a:xfrm rot="20371609">
            <a:off x="2705229" y="3831593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3" name="等腰三角形 26"/>
          <p:cNvSpPr/>
          <p:nvPr/>
        </p:nvSpPr>
        <p:spPr>
          <a:xfrm rot="3761573">
            <a:off x="8496747" y="3872262"/>
            <a:ext cx="741201" cy="508375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16" name="组合 1"/>
          <p:cNvGrpSpPr/>
          <p:nvPr/>
        </p:nvGrpSpPr>
        <p:grpSpPr>
          <a:xfrm>
            <a:off x="-1604504" y="2147666"/>
            <a:ext cx="3687215" cy="2719713"/>
            <a:chOff x="0" y="0"/>
            <a:chExt cx="3687214" cy="2719712"/>
          </a:xfrm>
        </p:grpSpPr>
        <p:sp>
          <p:nvSpPr>
            <p:cNvPr id="214" name="直接连接符 33"/>
            <p:cNvSpPr/>
            <p:nvPr/>
          </p:nvSpPr>
          <p:spPr>
            <a:xfrm flipH="1">
              <a:off x="0" y="539955"/>
              <a:ext cx="2592288" cy="2179757"/>
            </a:xfrm>
            <a:prstGeom prst="lin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直接连接符 34"/>
            <p:cNvSpPr/>
            <p:nvPr/>
          </p:nvSpPr>
          <p:spPr>
            <a:xfrm flipH="1">
              <a:off x="1094926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17" name="TextBox 5"/>
          <p:cNvSpPr txBox="1"/>
          <p:nvPr/>
        </p:nvSpPr>
        <p:spPr>
          <a:xfrm>
            <a:off x="3886611" y="2718796"/>
            <a:ext cx="3876061" cy="175432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/>
            <a:r>
              <a:rPr lang="en-US" altLang="zh-CN" sz="5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LetsBall</a:t>
            </a:r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</a:p>
          <a:p>
            <a:pPr algn="ctr"/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期末汇报</a:t>
            </a:r>
          </a:p>
        </p:txBody>
      </p:sp>
      <p:sp>
        <p:nvSpPr>
          <p:cNvPr id="218" name="等腰三角形 14"/>
          <p:cNvSpPr/>
          <p:nvPr/>
        </p:nvSpPr>
        <p:spPr>
          <a:xfrm rot="512239">
            <a:off x="5834793" y="1926194"/>
            <a:ext cx="396045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9" name="等腰三角形 20"/>
          <p:cNvSpPr/>
          <p:nvPr/>
        </p:nvSpPr>
        <p:spPr>
          <a:xfrm rot="20371609">
            <a:off x="6486079" y="2194279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0" name="等腰三角形 21"/>
          <p:cNvSpPr/>
          <p:nvPr/>
        </p:nvSpPr>
        <p:spPr>
          <a:xfrm rot="20371609">
            <a:off x="5390053" y="2222523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1" name="等腰三角形 22"/>
          <p:cNvSpPr/>
          <p:nvPr/>
        </p:nvSpPr>
        <p:spPr>
          <a:xfrm rot="3761573">
            <a:off x="4756821" y="1830713"/>
            <a:ext cx="741200" cy="508376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2" name="等腰三角形 25"/>
          <p:cNvSpPr/>
          <p:nvPr/>
        </p:nvSpPr>
        <p:spPr>
          <a:xfrm rot="20371609">
            <a:off x="6476787" y="1810735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25" name="圆角矩形 29"/>
          <p:cNvGrpSpPr/>
          <p:nvPr/>
        </p:nvGrpSpPr>
        <p:grpSpPr>
          <a:xfrm>
            <a:off x="4871070" y="4711651"/>
            <a:ext cx="1944218" cy="432050"/>
            <a:chOff x="0" y="0"/>
            <a:chExt cx="1944217" cy="432048"/>
          </a:xfrm>
        </p:grpSpPr>
        <p:sp>
          <p:nvSpPr>
            <p:cNvPr id="223" name="圆角矩形"/>
            <p:cNvSpPr/>
            <p:nvPr/>
          </p:nvSpPr>
          <p:spPr>
            <a:xfrm>
              <a:off x="0" y="0"/>
              <a:ext cx="1944217" cy="432048"/>
            </a:xfrm>
            <a:prstGeom prst="roundRect">
              <a:avLst>
                <a:gd name="adj" fmla="val 16667"/>
              </a:avLst>
            </a:pr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4" name="请输入你的内容"/>
            <p:cNvSpPr txBox="1"/>
            <p:nvPr/>
          </p:nvSpPr>
          <p:spPr>
            <a:xfrm>
              <a:off x="21090" y="31360"/>
              <a:ext cx="1902036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汉仪大圣体简"/>
                  <a:ea typeface="汉仪大圣体简"/>
                  <a:cs typeface="汉仪大圣体简"/>
                  <a:sym typeface="汉仪大圣体简"/>
                </a:defRPr>
              </a:lvl1pPr>
            </a:lstStyle>
            <a:p>
              <a:r>
                <a:rPr lang="en-US" altLang="zh-CN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C06</a:t>
              </a:r>
              <a:endParaRPr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28" name="组合 37"/>
          <p:cNvGrpSpPr/>
          <p:nvPr/>
        </p:nvGrpSpPr>
        <p:grpSpPr>
          <a:xfrm>
            <a:off x="4006973" y="2263379"/>
            <a:ext cx="360042" cy="2602152"/>
            <a:chOff x="0" y="0"/>
            <a:chExt cx="360040" cy="2602150"/>
          </a:xfrm>
        </p:grpSpPr>
        <p:sp>
          <p:nvSpPr>
            <p:cNvPr id="226" name="左中括号 35"/>
            <p:cNvSpPr/>
            <p:nvPr/>
          </p:nvSpPr>
          <p:spPr>
            <a:xfrm>
              <a:off x="94165" y="91522"/>
              <a:ext cx="265875" cy="2423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512"/>
                    <a:pt x="0" y="21403"/>
                  </a:cubicBezTo>
                  <a:lnTo>
                    <a:pt x="0" y="197"/>
                  </a:lnTo>
                  <a:cubicBezTo>
                    <a:pt x="0" y="88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7" name="左中括号 36"/>
            <p:cNvSpPr/>
            <p:nvPr/>
          </p:nvSpPr>
          <p:spPr>
            <a:xfrm>
              <a:off x="-1" y="-1"/>
              <a:ext cx="360041" cy="2602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489"/>
                    <a:pt x="0" y="21351"/>
                  </a:cubicBezTo>
                  <a:lnTo>
                    <a:pt x="0" y="249"/>
                  </a:lnTo>
                  <a:cubicBezTo>
                    <a:pt x="0" y="111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31" name="组合 38"/>
          <p:cNvGrpSpPr/>
          <p:nvPr/>
        </p:nvGrpSpPr>
        <p:grpSpPr>
          <a:xfrm>
            <a:off x="7175326" y="2243601"/>
            <a:ext cx="360041" cy="2602152"/>
            <a:chOff x="0" y="0"/>
            <a:chExt cx="360040" cy="2602150"/>
          </a:xfrm>
        </p:grpSpPr>
        <p:sp>
          <p:nvSpPr>
            <p:cNvPr id="229" name="左中括号 39"/>
            <p:cNvSpPr/>
            <p:nvPr/>
          </p:nvSpPr>
          <p:spPr>
            <a:xfrm flipH="1">
              <a:off x="0" y="91522"/>
              <a:ext cx="265875" cy="2423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512"/>
                    <a:pt x="0" y="21403"/>
                  </a:cubicBezTo>
                  <a:lnTo>
                    <a:pt x="0" y="197"/>
                  </a:lnTo>
                  <a:cubicBezTo>
                    <a:pt x="0" y="88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0" name="左中括号 40"/>
            <p:cNvSpPr/>
            <p:nvPr/>
          </p:nvSpPr>
          <p:spPr>
            <a:xfrm flipH="1">
              <a:off x="0" y="0"/>
              <a:ext cx="360041" cy="2602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489"/>
                    <a:pt x="0" y="21351"/>
                  </a:cubicBezTo>
                  <a:lnTo>
                    <a:pt x="0" y="249"/>
                  </a:lnTo>
                  <a:cubicBezTo>
                    <a:pt x="0" y="111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34" name="组合 2"/>
          <p:cNvGrpSpPr/>
          <p:nvPr/>
        </p:nvGrpSpPr>
        <p:grpSpPr>
          <a:xfrm>
            <a:off x="10311837" y="1544375"/>
            <a:ext cx="3230038" cy="3097814"/>
            <a:chOff x="0" y="0"/>
            <a:chExt cx="3230037" cy="3097813"/>
          </a:xfrm>
        </p:grpSpPr>
        <p:sp>
          <p:nvSpPr>
            <p:cNvPr id="232" name="直接连接符 41"/>
            <p:cNvSpPr/>
            <p:nvPr/>
          </p:nvSpPr>
          <p:spPr>
            <a:xfrm flipH="1">
              <a:off x="0" y="918056"/>
              <a:ext cx="2592289" cy="2179757"/>
            </a:xfrm>
            <a:prstGeom prst="line">
              <a:avLst/>
            </a:prstGeom>
            <a:noFill/>
            <a:ln w="762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直接连接符 42"/>
            <p:cNvSpPr/>
            <p:nvPr/>
          </p:nvSpPr>
          <p:spPr>
            <a:xfrm flipH="1">
              <a:off x="637749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5" name="等腰三角形 43"/>
          <p:cNvSpPr/>
          <p:nvPr/>
        </p:nvSpPr>
        <p:spPr>
          <a:xfrm rot="20371609">
            <a:off x="8890947" y="3709642"/>
            <a:ext cx="198023" cy="170708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组合 3"/>
          <p:cNvGrpSpPr/>
          <p:nvPr/>
        </p:nvGrpSpPr>
        <p:grpSpPr>
          <a:xfrm>
            <a:off x="945210" y="1749257"/>
            <a:ext cx="1105803" cy="815647"/>
            <a:chOff x="0" y="0"/>
            <a:chExt cx="1105801" cy="815645"/>
          </a:xfrm>
        </p:grpSpPr>
        <p:sp>
          <p:nvSpPr>
            <p:cNvPr id="237" name="直接连接符 1"/>
            <p:cNvSpPr/>
            <p:nvPr/>
          </p:nvSpPr>
          <p:spPr>
            <a:xfrm flipH="1">
              <a:off x="0" y="161933"/>
              <a:ext cx="777432" cy="653713"/>
            </a:xfrm>
            <a:prstGeom prst="lin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8" name="直接连接符 2"/>
            <p:cNvSpPr/>
            <p:nvPr/>
          </p:nvSpPr>
          <p:spPr>
            <a:xfrm flipH="1">
              <a:off x="328370" y="0"/>
              <a:ext cx="777432" cy="653713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42" name="组合 4"/>
          <p:cNvGrpSpPr/>
          <p:nvPr/>
        </p:nvGrpSpPr>
        <p:grpSpPr>
          <a:xfrm>
            <a:off x="1270669" y="4341546"/>
            <a:ext cx="1105803" cy="815646"/>
            <a:chOff x="0" y="0"/>
            <a:chExt cx="1105801" cy="815645"/>
          </a:xfrm>
        </p:grpSpPr>
        <p:sp>
          <p:nvSpPr>
            <p:cNvPr id="240" name="直接连接符 5"/>
            <p:cNvSpPr/>
            <p:nvPr/>
          </p:nvSpPr>
          <p:spPr>
            <a:xfrm flipV="1">
              <a:off x="328370" y="-1"/>
              <a:ext cx="777432" cy="653714"/>
            </a:xfrm>
            <a:prstGeom prst="line">
              <a:avLst/>
            </a:prstGeom>
            <a:noFill/>
            <a:ln w="762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1" name="直接连接符 6"/>
            <p:cNvSpPr/>
            <p:nvPr/>
          </p:nvSpPr>
          <p:spPr>
            <a:xfrm flipV="1">
              <a:off x="0" y="161933"/>
              <a:ext cx="777432" cy="653713"/>
            </a:xfrm>
            <a:prstGeom prst="line">
              <a:avLst/>
            </a:prstGeom>
            <a:noFill/>
            <a:ln w="127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3" name="TextBox 8"/>
          <p:cNvSpPr txBox="1"/>
          <p:nvPr/>
        </p:nvSpPr>
        <p:spPr>
          <a:xfrm>
            <a:off x="1719267" y="2492896"/>
            <a:ext cx="323163" cy="13609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lnSpc>
                <a:spcPct val="250000"/>
              </a:lnSpc>
            </a:pPr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目</a:t>
            </a:r>
          </a:p>
          <a:p>
            <a:pPr>
              <a:lnSpc>
                <a:spcPct val="250000"/>
              </a:lnSpc>
            </a:pPr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录</a:t>
            </a:r>
          </a:p>
        </p:txBody>
      </p:sp>
      <p:sp>
        <p:nvSpPr>
          <p:cNvPr id="244" name="矩形 10"/>
          <p:cNvSpPr txBox="1"/>
          <p:nvPr/>
        </p:nvSpPr>
        <p:spPr>
          <a:xfrm>
            <a:off x="1261668" y="3329697"/>
            <a:ext cx="225027" cy="132343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CONTENTS</a:t>
            </a:r>
          </a:p>
        </p:txBody>
      </p:sp>
      <p:grpSp>
        <p:nvGrpSpPr>
          <p:cNvPr id="251" name="组合 32"/>
          <p:cNvGrpSpPr/>
          <p:nvPr/>
        </p:nvGrpSpPr>
        <p:grpSpPr>
          <a:xfrm>
            <a:off x="4361725" y="963133"/>
            <a:ext cx="2556649" cy="547845"/>
            <a:chOff x="-1" y="-20481"/>
            <a:chExt cx="1611722" cy="547845"/>
          </a:xfrm>
        </p:grpSpPr>
        <p:sp>
          <p:nvSpPr>
            <p:cNvPr id="245" name="TextBox 12"/>
            <p:cNvSpPr txBox="1"/>
            <p:nvPr/>
          </p:nvSpPr>
          <p:spPr>
            <a:xfrm>
              <a:off x="156253" y="-20481"/>
              <a:ext cx="292707" cy="5232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248" name="组合 14"/>
            <p:cNvGrpSpPr/>
            <p:nvPr/>
          </p:nvGrpSpPr>
          <p:grpSpPr>
            <a:xfrm>
              <a:off x="-1" y="-1"/>
              <a:ext cx="504058" cy="488792"/>
              <a:chOff x="0" y="0"/>
              <a:chExt cx="504056" cy="488790"/>
            </a:xfrm>
          </p:grpSpPr>
          <p:sp>
            <p:nvSpPr>
              <p:cNvPr id="246" name="左中括号 11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7" name="左中括号 13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49" name="TextBox 15"/>
            <p:cNvSpPr txBox="1"/>
            <p:nvPr/>
          </p:nvSpPr>
          <p:spPr>
            <a:xfrm>
              <a:off x="648072" y="4146"/>
              <a:ext cx="963649" cy="5232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Arial" panose="020B0604020202020204"/>
                  <a:sym typeface="Times New Roman" panose="02020603050405020304" pitchFamily="18" charset="0"/>
                </a:rPr>
                <a:t>计划完成</a:t>
              </a:r>
            </a:p>
          </p:txBody>
        </p:sp>
      </p:grpSp>
      <p:grpSp>
        <p:nvGrpSpPr>
          <p:cNvPr id="265" name="组合 34"/>
          <p:cNvGrpSpPr/>
          <p:nvPr/>
        </p:nvGrpSpPr>
        <p:grpSpPr>
          <a:xfrm>
            <a:off x="4361723" y="2063050"/>
            <a:ext cx="2556650" cy="531803"/>
            <a:chOff x="-1" y="-4439"/>
            <a:chExt cx="1611723" cy="531802"/>
          </a:xfrm>
        </p:grpSpPr>
        <p:sp>
          <p:nvSpPr>
            <p:cNvPr id="259" name="TextBox 26"/>
            <p:cNvSpPr txBox="1"/>
            <p:nvPr/>
          </p:nvSpPr>
          <p:spPr>
            <a:xfrm>
              <a:off x="156253" y="-4439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2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62" name="组合 27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260" name="左中括号 28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1" name="左中括号 29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63" name="TextBox 30"/>
            <p:cNvSpPr txBox="1"/>
            <p:nvPr/>
          </p:nvSpPr>
          <p:spPr>
            <a:xfrm>
              <a:off x="648072" y="4146"/>
              <a:ext cx="963650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Arial" panose="020B0604020202020204"/>
                  <a:sym typeface="Times New Roman" panose="02020603050405020304" pitchFamily="18" charset="0"/>
                </a:rPr>
                <a:t>关键技术</a:t>
              </a:r>
            </a:p>
          </p:txBody>
        </p:sp>
      </p:grpSp>
      <p:sp>
        <p:nvSpPr>
          <p:cNvPr id="266" name="直接连接符 35"/>
          <p:cNvSpPr/>
          <p:nvPr/>
        </p:nvSpPr>
        <p:spPr>
          <a:xfrm flipH="1">
            <a:off x="8857297" y="764704"/>
            <a:ext cx="777433" cy="653713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7" name="直接连接符 36"/>
          <p:cNvSpPr/>
          <p:nvPr/>
        </p:nvSpPr>
        <p:spPr>
          <a:xfrm flipH="1">
            <a:off x="8255445" y="2921424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8" name="直接连接符 38"/>
          <p:cNvSpPr/>
          <p:nvPr/>
        </p:nvSpPr>
        <p:spPr>
          <a:xfrm flipH="1">
            <a:off x="10631709" y="5314403"/>
            <a:ext cx="388717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9" name="直接连接符 39"/>
          <p:cNvSpPr/>
          <p:nvPr/>
        </p:nvSpPr>
        <p:spPr>
          <a:xfrm flipH="1">
            <a:off x="9593077" y="3537213"/>
            <a:ext cx="777433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76" name="组合 37"/>
          <p:cNvGrpSpPr/>
          <p:nvPr/>
        </p:nvGrpSpPr>
        <p:grpSpPr>
          <a:xfrm>
            <a:off x="4355972" y="3167051"/>
            <a:ext cx="2556650" cy="531804"/>
            <a:chOff x="-1" y="-4440"/>
            <a:chExt cx="1611723" cy="531803"/>
          </a:xfrm>
        </p:grpSpPr>
        <p:sp>
          <p:nvSpPr>
            <p:cNvPr id="270" name="TextBox 26"/>
            <p:cNvSpPr txBox="1"/>
            <p:nvPr/>
          </p:nvSpPr>
          <p:spPr>
            <a:xfrm>
              <a:off x="156253" y="-4440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3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73" name="组合 41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271" name="左中括号 44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2" name="左中括号 45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74" name="TextBox 30"/>
            <p:cNvSpPr txBox="1"/>
            <p:nvPr/>
          </p:nvSpPr>
          <p:spPr>
            <a:xfrm>
              <a:off x="648072" y="4146"/>
              <a:ext cx="963650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需求汇总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42" name="组合 37"/>
          <p:cNvGrpSpPr/>
          <p:nvPr/>
        </p:nvGrpSpPr>
        <p:grpSpPr>
          <a:xfrm>
            <a:off x="4355970" y="4259512"/>
            <a:ext cx="4352012" cy="547845"/>
            <a:chOff x="-1" y="-20481"/>
            <a:chExt cx="2743527" cy="547844"/>
          </a:xfrm>
        </p:grpSpPr>
        <p:sp>
          <p:nvSpPr>
            <p:cNvPr id="43" name="TextBox 26"/>
            <p:cNvSpPr txBox="1"/>
            <p:nvPr/>
          </p:nvSpPr>
          <p:spPr>
            <a:xfrm>
              <a:off x="166366" y="-20481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4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44" name="组合 41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46" name="左中括号 44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7" name="左中括号 45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45" name="TextBox 30"/>
            <p:cNvSpPr txBox="1"/>
            <p:nvPr/>
          </p:nvSpPr>
          <p:spPr>
            <a:xfrm>
              <a:off x="648072" y="4146"/>
              <a:ext cx="2095454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任务分工与过程管理</a:t>
              </a:r>
              <a:endParaRPr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C0D3EFC-51F2-49EB-BF03-C9AAB9E65281}"/>
              </a:ext>
            </a:extLst>
          </p:cNvPr>
          <p:cNvGrpSpPr/>
          <p:nvPr/>
        </p:nvGrpSpPr>
        <p:grpSpPr>
          <a:xfrm>
            <a:off x="4355968" y="5340895"/>
            <a:ext cx="2556650" cy="547845"/>
            <a:chOff x="-1" y="-20481"/>
            <a:chExt cx="1611723" cy="547844"/>
          </a:xfrm>
        </p:grpSpPr>
        <p:sp>
          <p:nvSpPr>
            <p:cNvPr id="39" name="TextBox 26">
              <a:extLst>
                <a:ext uri="{FF2B5EF4-FFF2-40B4-BE49-F238E27FC236}">
                  <a16:creationId xmlns:a16="http://schemas.microsoft.com/office/drawing/2014/main" id="{B5E5CCFA-5F7E-46F0-9113-BE53C0D0D177}"/>
                </a:ext>
              </a:extLst>
            </p:cNvPr>
            <p:cNvSpPr txBox="1"/>
            <p:nvPr/>
          </p:nvSpPr>
          <p:spPr>
            <a:xfrm>
              <a:off x="166366" y="-20481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5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40" name="组合 41">
              <a:extLst>
                <a:ext uri="{FF2B5EF4-FFF2-40B4-BE49-F238E27FC236}">
                  <a16:creationId xmlns:a16="http://schemas.microsoft.com/office/drawing/2014/main" id="{0771C7DB-D228-4A70-8228-D46DC743B3D4}"/>
                </a:ext>
              </a:extLst>
            </p:cNvPr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48" name="左中括号 44">
                <a:extLst>
                  <a:ext uri="{FF2B5EF4-FFF2-40B4-BE49-F238E27FC236}">
                    <a16:creationId xmlns:a16="http://schemas.microsoft.com/office/drawing/2014/main" id="{BD02919A-15DF-4A25-AEA9-8E93686D19A9}"/>
                  </a:ext>
                </a:extLst>
              </p:cNvPr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9" name="左中括号 45">
                <a:extLst>
                  <a:ext uri="{FF2B5EF4-FFF2-40B4-BE49-F238E27FC236}">
                    <a16:creationId xmlns:a16="http://schemas.microsoft.com/office/drawing/2014/main" id="{A04881FB-71AA-421E-AD8D-84A24DDB5EB1}"/>
                  </a:ext>
                </a:extLst>
              </p:cNvPr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41" name="TextBox 30">
              <a:extLst>
                <a:ext uri="{FF2B5EF4-FFF2-40B4-BE49-F238E27FC236}">
                  <a16:creationId xmlns:a16="http://schemas.microsoft.com/office/drawing/2014/main" id="{A5DD0E04-F512-4086-BEB0-1A94CC4B1D1C}"/>
                </a:ext>
              </a:extLst>
            </p:cNvPr>
            <p:cNvSpPr txBox="1"/>
            <p:nvPr/>
          </p:nvSpPr>
          <p:spPr>
            <a:xfrm>
              <a:off x="648072" y="4146"/>
              <a:ext cx="963650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系统演示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</a:p>
        </p:txBody>
      </p:sp>
      <p:sp>
        <p:nvSpPr>
          <p:cNvPr id="338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9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0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1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2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3" name="TextBox 16"/>
          <p:cNvSpPr txBox="1"/>
          <p:nvPr/>
        </p:nvSpPr>
        <p:spPr>
          <a:xfrm>
            <a:off x="2958272" y="2074406"/>
            <a:ext cx="707884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4" name="TextBox 27"/>
          <p:cNvSpPr txBox="1"/>
          <p:nvPr/>
        </p:nvSpPr>
        <p:spPr>
          <a:xfrm>
            <a:off x="6517943" y="2977599"/>
            <a:ext cx="2298063" cy="7078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计划完成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5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6" name="直接连接符 33"/>
          <p:cNvSpPr/>
          <p:nvPr/>
        </p:nvSpPr>
        <p:spPr>
          <a:xfrm flipH="1">
            <a:off x="8670509" y="3585222"/>
            <a:ext cx="521638" cy="47427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7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8" name="直接连接符 36"/>
          <p:cNvSpPr/>
          <p:nvPr/>
        </p:nvSpPr>
        <p:spPr>
          <a:xfrm flipH="1">
            <a:off x="6167970" y="3585222"/>
            <a:ext cx="629167" cy="474277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剪去单角 4"/>
          <p:cNvSpPr/>
          <p:nvPr/>
        </p:nvSpPr>
        <p:spPr>
          <a:xfrm>
            <a:off x="901996" y="1805553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身份</a:t>
            </a:r>
          </a:p>
        </p:txBody>
      </p:sp>
      <p:sp>
        <p:nvSpPr>
          <p:cNvPr id="6" name="矩形: 剪去单角 5"/>
          <p:cNvSpPr/>
          <p:nvPr/>
        </p:nvSpPr>
        <p:spPr>
          <a:xfrm>
            <a:off x="2065122" y="1805551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发布</a:t>
            </a:r>
          </a:p>
        </p:txBody>
      </p:sp>
      <p:sp>
        <p:nvSpPr>
          <p:cNvPr id="7" name="矩形: 剪去单角 6"/>
          <p:cNvSpPr/>
          <p:nvPr/>
        </p:nvSpPr>
        <p:spPr>
          <a:xfrm>
            <a:off x="4383488" y="1799715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交流</a:t>
            </a:r>
          </a:p>
        </p:txBody>
      </p:sp>
      <p:sp>
        <p:nvSpPr>
          <p:cNvPr id="8" name="矩形: 剪去单角 7"/>
          <p:cNvSpPr/>
          <p:nvPr/>
        </p:nvSpPr>
        <p:spPr>
          <a:xfrm>
            <a:off x="6701854" y="1805555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确认</a:t>
            </a:r>
          </a:p>
        </p:txBody>
      </p:sp>
      <p:sp>
        <p:nvSpPr>
          <p:cNvPr id="9" name="矩形: 剪去单角 8"/>
          <p:cNvSpPr/>
          <p:nvPr/>
        </p:nvSpPr>
        <p:spPr>
          <a:xfrm>
            <a:off x="8109727" y="1805555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取消</a:t>
            </a:r>
          </a:p>
        </p:txBody>
      </p:sp>
      <p:sp>
        <p:nvSpPr>
          <p:cNvPr id="10" name="矩形: 剪去单角 9"/>
          <p:cNvSpPr/>
          <p:nvPr/>
        </p:nvSpPr>
        <p:spPr>
          <a:xfrm>
            <a:off x="9517601" y="1805553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个人</a:t>
            </a:r>
          </a:p>
        </p:txBody>
      </p:sp>
      <p:sp>
        <p:nvSpPr>
          <p:cNvPr id="11" name="矩形: 剪去单角 10"/>
          <p:cNvSpPr/>
          <p:nvPr/>
        </p:nvSpPr>
        <p:spPr>
          <a:xfrm>
            <a:off x="886674" y="2607023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账号注册</a:t>
            </a:r>
          </a:p>
        </p:txBody>
      </p:sp>
      <p:sp>
        <p:nvSpPr>
          <p:cNvPr id="12" name="矩形: 剪去单角 11"/>
          <p:cNvSpPr/>
          <p:nvPr/>
        </p:nvSpPr>
        <p:spPr>
          <a:xfrm>
            <a:off x="886674" y="4184203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身份绑定</a:t>
            </a:r>
          </a:p>
        </p:txBody>
      </p:sp>
      <p:sp>
        <p:nvSpPr>
          <p:cNvPr id="13" name="矩形: 剪去单角 12"/>
          <p:cNvSpPr/>
          <p:nvPr/>
        </p:nvSpPr>
        <p:spPr>
          <a:xfrm>
            <a:off x="3215841" y="3442449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编辑活动</a:t>
            </a:r>
          </a:p>
        </p:txBody>
      </p:sp>
      <p:sp>
        <p:nvSpPr>
          <p:cNvPr id="14" name="矩形: 剪去单角 13"/>
          <p:cNvSpPr/>
          <p:nvPr/>
        </p:nvSpPr>
        <p:spPr>
          <a:xfrm>
            <a:off x="2064239" y="2607022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发布活动</a:t>
            </a:r>
          </a:p>
        </p:txBody>
      </p:sp>
      <p:sp>
        <p:nvSpPr>
          <p:cNvPr id="15" name="矩形: 剪去单角 14"/>
          <p:cNvSpPr/>
          <p:nvPr/>
        </p:nvSpPr>
        <p:spPr>
          <a:xfrm>
            <a:off x="2065122" y="3445085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分享活动</a:t>
            </a:r>
          </a:p>
        </p:txBody>
      </p:sp>
      <p:sp>
        <p:nvSpPr>
          <p:cNvPr id="16" name="矩形: 剪去单角 15"/>
          <p:cNvSpPr/>
          <p:nvPr/>
        </p:nvSpPr>
        <p:spPr>
          <a:xfrm>
            <a:off x="5551135" y="3451221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熟悉度区分</a:t>
            </a:r>
          </a:p>
        </p:txBody>
      </p:sp>
      <p:sp>
        <p:nvSpPr>
          <p:cNvPr id="17" name="矩形: 剪去单角 16"/>
          <p:cNvSpPr/>
          <p:nvPr/>
        </p:nvSpPr>
        <p:spPr>
          <a:xfrm>
            <a:off x="4402326" y="3442448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聊天</a:t>
            </a:r>
          </a:p>
        </p:txBody>
      </p:sp>
      <p:sp>
        <p:nvSpPr>
          <p:cNvPr id="20" name="矩形: 剪去单角 19"/>
          <p:cNvSpPr/>
          <p:nvPr/>
        </p:nvSpPr>
        <p:spPr>
          <a:xfrm>
            <a:off x="6701854" y="2631046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单向确认</a:t>
            </a:r>
          </a:p>
        </p:txBody>
      </p:sp>
      <p:sp>
        <p:nvSpPr>
          <p:cNvPr id="21" name="矩形: 剪去单角 20"/>
          <p:cNvSpPr/>
          <p:nvPr/>
        </p:nvSpPr>
        <p:spPr>
          <a:xfrm>
            <a:off x="8109727" y="2607025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取消活动</a:t>
            </a:r>
          </a:p>
        </p:txBody>
      </p:sp>
      <p:sp>
        <p:nvSpPr>
          <p:cNvPr id="22" name="矩形: 剪去单角 21"/>
          <p:cNvSpPr/>
          <p:nvPr/>
        </p:nvSpPr>
        <p:spPr>
          <a:xfrm>
            <a:off x="8109726" y="3442449"/>
            <a:ext cx="912259" cy="480880"/>
          </a:xfrm>
          <a:prstGeom prst="snip1Rect">
            <a:avLst>
              <a:gd name="adj" fmla="val 1796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隐藏活动</a:t>
            </a:r>
          </a:p>
        </p:txBody>
      </p:sp>
      <p:sp>
        <p:nvSpPr>
          <p:cNvPr id="23" name="矩形: 剪去单角 22"/>
          <p:cNvSpPr/>
          <p:nvPr/>
        </p:nvSpPr>
        <p:spPr>
          <a:xfrm>
            <a:off x="9517601" y="4874433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活动奖励</a:t>
            </a:r>
          </a:p>
        </p:txBody>
      </p:sp>
      <p:sp>
        <p:nvSpPr>
          <p:cNvPr id="24" name="矩形: 剪去单角 23"/>
          <p:cNvSpPr/>
          <p:nvPr/>
        </p:nvSpPr>
        <p:spPr>
          <a:xfrm>
            <a:off x="10700159" y="4874433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查看信用</a:t>
            </a:r>
          </a:p>
        </p:txBody>
      </p:sp>
      <p:sp>
        <p:nvSpPr>
          <p:cNvPr id="26" name="矩形: 剪去单角 25"/>
          <p:cNvSpPr/>
          <p:nvPr/>
        </p:nvSpPr>
        <p:spPr>
          <a:xfrm>
            <a:off x="9517600" y="5564661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历史记录</a:t>
            </a:r>
          </a:p>
        </p:txBody>
      </p:sp>
      <p:sp>
        <p:nvSpPr>
          <p:cNvPr id="28" name="矩形: 剪去单角 27"/>
          <p:cNvSpPr/>
          <p:nvPr/>
        </p:nvSpPr>
        <p:spPr>
          <a:xfrm>
            <a:off x="9489951" y="4184204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意见反馈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4606" y="1170624"/>
            <a:ext cx="1456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发布者</a:t>
            </a:r>
          </a:p>
        </p:txBody>
      </p:sp>
      <p:sp>
        <p:nvSpPr>
          <p:cNvPr id="27" name="矩形: 剪去单角 26"/>
          <p:cNvSpPr/>
          <p:nvPr/>
        </p:nvSpPr>
        <p:spPr>
          <a:xfrm>
            <a:off x="9517600" y="2619481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我的活动</a:t>
            </a:r>
          </a:p>
        </p:txBody>
      </p:sp>
      <p:sp>
        <p:nvSpPr>
          <p:cNvPr id="29" name="矩形: 剪去单角 28"/>
          <p:cNvSpPr/>
          <p:nvPr/>
        </p:nvSpPr>
        <p:spPr>
          <a:xfrm>
            <a:off x="4381722" y="4184203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匿名</a:t>
            </a:r>
            <a:endParaRPr lang="en-US" altLang="zh-CN" sz="1330" dirty="0">
              <a:solidFill>
                <a:sysClr val="windowText" lastClr="0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/>
            <a:r>
              <a:rPr lang="en-US" altLang="zh-CN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&amp;</a:t>
            </a:r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取匿</a:t>
            </a:r>
          </a:p>
        </p:txBody>
      </p:sp>
      <p:sp>
        <p:nvSpPr>
          <p:cNvPr id="30" name="矩形: 剪去单角 29"/>
          <p:cNvSpPr/>
          <p:nvPr/>
        </p:nvSpPr>
        <p:spPr>
          <a:xfrm>
            <a:off x="6701854" y="3456537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双向确认</a:t>
            </a:r>
          </a:p>
        </p:txBody>
      </p:sp>
      <p:sp>
        <p:nvSpPr>
          <p:cNvPr id="31" name="矩形: 剪去单角 30"/>
          <p:cNvSpPr/>
          <p:nvPr/>
        </p:nvSpPr>
        <p:spPr>
          <a:xfrm>
            <a:off x="4381722" y="2631046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直接报名</a:t>
            </a:r>
          </a:p>
        </p:txBody>
      </p:sp>
      <p:cxnSp>
        <p:nvCxnSpPr>
          <p:cNvPr id="32" name="直接连接符 31"/>
          <p:cNvCxnSpPr/>
          <p:nvPr/>
        </p:nvCxnSpPr>
        <p:spPr>
          <a:xfrm>
            <a:off x="465834" y="2461026"/>
            <a:ext cx="1106357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9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" name="矩形 3"/>
          <p:cNvSpPr txBox="1"/>
          <p:nvPr/>
        </p:nvSpPr>
        <p:spPr>
          <a:xfrm>
            <a:off x="797872" y="611396"/>
            <a:ext cx="124649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计划完成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剪去单角 4"/>
          <p:cNvSpPr/>
          <p:nvPr/>
        </p:nvSpPr>
        <p:spPr>
          <a:xfrm>
            <a:off x="901996" y="1624395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身份</a:t>
            </a:r>
          </a:p>
        </p:txBody>
      </p:sp>
      <p:sp>
        <p:nvSpPr>
          <p:cNvPr id="6" name="矩形: 剪去单角 5"/>
          <p:cNvSpPr/>
          <p:nvPr/>
        </p:nvSpPr>
        <p:spPr>
          <a:xfrm>
            <a:off x="2065122" y="1624393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浏览</a:t>
            </a:r>
          </a:p>
        </p:txBody>
      </p:sp>
      <p:sp>
        <p:nvSpPr>
          <p:cNvPr id="7" name="矩形: 剪去单角 6"/>
          <p:cNvSpPr/>
          <p:nvPr/>
        </p:nvSpPr>
        <p:spPr>
          <a:xfrm>
            <a:off x="4383488" y="1618556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交流</a:t>
            </a:r>
          </a:p>
        </p:txBody>
      </p:sp>
      <p:sp>
        <p:nvSpPr>
          <p:cNvPr id="8" name="矩形: 剪去单角 7"/>
          <p:cNvSpPr/>
          <p:nvPr/>
        </p:nvSpPr>
        <p:spPr>
          <a:xfrm>
            <a:off x="6701854" y="1624396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确认</a:t>
            </a:r>
          </a:p>
        </p:txBody>
      </p:sp>
      <p:sp>
        <p:nvSpPr>
          <p:cNvPr id="9" name="矩形: 剪去单角 8"/>
          <p:cNvSpPr/>
          <p:nvPr/>
        </p:nvSpPr>
        <p:spPr>
          <a:xfrm>
            <a:off x="8109727" y="1624396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取消</a:t>
            </a:r>
          </a:p>
        </p:txBody>
      </p:sp>
      <p:sp>
        <p:nvSpPr>
          <p:cNvPr id="10" name="矩形: 剪去单角 9"/>
          <p:cNvSpPr/>
          <p:nvPr/>
        </p:nvSpPr>
        <p:spPr>
          <a:xfrm>
            <a:off x="9517601" y="1624394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个人</a:t>
            </a:r>
          </a:p>
        </p:txBody>
      </p:sp>
      <p:sp>
        <p:nvSpPr>
          <p:cNvPr id="11" name="矩形: 剪去单角 10"/>
          <p:cNvSpPr/>
          <p:nvPr/>
        </p:nvSpPr>
        <p:spPr>
          <a:xfrm>
            <a:off x="886674" y="2425864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账号注册</a:t>
            </a:r>
          </a:p>
        </p:txBody>
      </p:sp>
      <p:sp>
        <p:nvSpPr>
          <p:cNvPr id="12" name="矩形: 剪去单角 11"/>
          <p:cNvSpPr/>
          <p:nvPr/>
        </p:nvSpPr>
        <p:spPr>
          <a:xfrm>
            <a:off x="906649" y="3915367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身份绑定</a:t>
            </a:r>
          </a:p>
        </p:txBody>
      </p:sp>
      <p:sp>
        <p:nvSpPr>
          <p:cNvPr id="13" name="矩形: 剪去单角 12"/>
          <p:cNvSpPr/>
          <p:nvPr/>
        </p:nvSpPr>
        <p:spPr>
          <a:xfrm>
            <a:off x="2065122" y="2425862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浏览活动</a:t>
            </a:r>
          </a:p>
        </p:txBody>
      </p:sp>
      <p:sp>
        <p:nvSpPr>
          <p:cNvPr id="15" name="矩形: 剪去单角 14"/>
          <p:cNvSpPr/>
          <p:nvPr/>
        </p:nvSpPr>
        <p:spPr>
          <a:xfrm>
            <a:off x="2065121" y="3227332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筛选活动</a:t>
            </a:r>
          </a:p>
        </p:txBody>
      </p:sp>
      <p:sp>
        <p:nvSpPr>
          <p:cNvPr id="19" name="矩形: 剪去单角 18"/>
          <p:cNvSpPr/>
          <p:nvPr/>
        </p:nvSpPr>
        <p:spPr>
          <a:xfrm>
            <a:off x="3264998" y="2446356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查看详情</a:t>
            </a:r>
          </a:p>
        </p:txBody>
      </p:sp>
      <p:sp>
        <p:nvSpPr>
          <p:cNvPr id="21" name="矩形: 剪去单角 20"/>
          <p:cNvSpPr/>
          <p:nvPr/>
        </p:nvSpPr>
        <p:spPr>
          <a:xfrm>
            <a:off x="8109727" y="2425866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取消报名</a:t>
            </a:r>
          </a:p>
        </p:txBody>
      </p:sp>
      <p:sp>
        <p:nvSpPr>
          <p:cNvPr id="23" name="矩形: 剪去单角 22"/>
          <p:cNvSpPr/>
          <p:nvPr/>
        </p:nvSpPr>
        <p:spPr>
          <a:xfrm>
            <a:off x="9532924" y="4871288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活动奖励</a:t>
            </a:r>
          </a:p>
        </p:txBody>
      </p:sp>
      <p:sp>
        <p:nvSpPr>
          <p:cNvPr id="24" name="矩形: 剪去单角 23"/>
          <p:cNvSpPr/>
          <p:nvPr/>
        </p:nvSpPr>
        <p:spPr>
          <a:xfrm>
            <a:off x="10715482" y="4871288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查看信用</a:t>
            </a:r>
          </a:p>
        </p:txBody>
      </p:sp>
      <p:sp>
        <p:nvSpPr>
          <p:cNvPr id="26" name="矩形: 剪去单角 25"/>
          <p:cNvSpPr/>
          <p:nvPr/>
        </p:nvSpPr>
        <p:spPr>
          <a:xfrm>
            <a:off x="9532924" y="5566058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历史记录</a:t>
            </a:r>
          </a:p>
        </p:txBody>
      </p:sp>
      <p:sp>
        <p:nvSpPr>
          <p:cNvPr id="28" name="矩形: 剪去单角 27"/>
          <p:cNvSpPr/>
          <p:nvPr/>
        </p:nvSpPr>
        <p:spPr>
          <a:xfrm>
            <a:off x="9532924" y="4045293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意见反馈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4606" y="1119297"/>
            <a:ext cx="111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报名者</a:t>
            </a:r>
          </a:p>
        </p:txBody>
      </p:sp>
      <p:sp>
        <p:nvSpPr>
          <p:cNvPr id="29" name="矩形: 剪去单角 28"/>
          <p:cNvSpPr/>
          <p:nvPr/>
        </p:nvSpPr>
        <p:spPr>
          <a:xfrm>
            <a:off x="2068168" y="4678188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搜索活动</a:t>
            </a:r>
          </a:p>
        </p:txBody>
      </p:sp>
      <p:sp>
        <p:nvSpPr>
          <p:cNvPr id="33" name="矩形: 剪去单角 32"/>
          <p:cNvSpPr/>
          <p:nvPr/>
        </p:nvSpPr>
        <p:spPr>
          <a:xfrm>
            <a:off x="6701855" y="4871287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活动提醒</a:t>
            </a:r>
          </a:p>
        </p:txBody>
      </p:sp>
      <p:sp>
        <p:nvSpPr>
          <p:cNvPr id="35" name="矩形: 剪去单角 34"/>
          <p:cNvSpPr/>
          <p:nvPr/>
        </p:nvSpPr>
        <p:spPr>
          <a:xfrm>
            <a:off x="6701854" y="5566058"/>
            <a:ext cx="912259" cy="480880"/>
          </a:xfrm>
          <a:prstGeom prst="snip1Rect">
            <a:avLst>
              <a:gd name="adj" fmla="val 17966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冲突提醒</a:t>
            </a:r>
          </a:p>
        </p:txBody>
      </p:sp>
      <p:sp>
        <p:nvSpPr>
          <p:cNvPr id="27" name="矩形: 剪去单角 26"/>
          <p:cNvSpPr/>
          <p:nvPr/>
        </p:nvSpPr>
        <p:spPr>
          <a:xfrm>
            <a:off x="4408136" y="3187201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聊天</a:t>
            </a:r>
          </a:p>
        </p:txBody>
      </p:sp>
      <p:sp>
        <p:nvSpPr>
          <p:cNvPr id="30" name="矩形: 剪去单角 29"/>
          <p:cNvSpPr/>
          <p:nvPr/>
        </p:nvSpPr>
        <p:spPr>
          <a:xfrm>
            <a:off x="4408136" y="3915367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匿名</a:t>
            </a:r>
            <a:endParaRPr lang="en-US" altLang="zh-CN" sz="1330" dirty="0">
              <a:solidFill>
                <a:sysClr val="windowText" lastClr="0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/>
            <a:r>
              <a:rPr lang="en-US" altLang="zh-CN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&amp;</a:t>
            </a:r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取匿</a:t>
            </a:r>
          </a:p>
        </p:txBody>
      </p:sp>
      <p:sp>
        <p:nvSpPr>
          <p:cNvPr id="32" name="矩形: 剪去单角 31"/>
          <p:cNvSpPr/>
          <p:nvPr/>
        </p:nvSpPr>
        <p:spPr>
          <a:xfrm>
            <a:off x="6701854" y="2449887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被动确认</a:t>
            </a:r>
          </a:p>
        </p:txBody>
      </p:sp>
      <p:sp>
        <p:nvSpPr>
          <p:cNvPr id="34" name="矩形: 剪去单角 33"/>
          <p:cNvSpPr/>
          <p:nvPr/>
        </p:nvSpPr>
        <p:spPr>
          <a:xfrm>
            <a:off x="6701854" y="3275378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双向确认</a:t>
            </a:r>
          </a:p>
        </p:txBody>
      </p:sp>
      <p:sp>
        <p:nvSpPr>
          <p:cNvPr id="38" name="矩形: 剪去单角 37"/>
          <p:cNvSpPr/>
          <p:nvPr/>
        </p:nvSpPr>
        <p:spPr>
          <a:xfrm>
            <a:off x="4425064" y="2446356"/>
            <a:ext cx="912259" cy="480880"/>
          </a:xfrm>
          <a:prstGeom prst="snip1Rect">
            <a:avLst>
              <a:gd name="adj" fmla="val 1796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33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直接报名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65834" y="2266929"/>
            <a:ext cx="1106357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1" name="矩形 3"/>
          <p:cNvSpPr txBox="1"/>
          <p:nvPr/>
        </p:nvSpPr>
        <p:spPr>
          <a:xfrm>
            <a:off x="797872" y="611396"/>
            <a:ext cx="124649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计划完成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9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1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0FFF76BB-4AD6-B34F-8789-07C6DAFD6960}"/>
              </a:ext>
            </a:extLst>
          </p:cNvPr>
          <p:cNvSpPr txBox="1"/>
          <p:nvPr/>
        </p:nvSpPr>
        <p:spPr>
          <a:xfrm>
            <a:off x="797872" y="611396"/>
            <a:ext cx="124649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计划完成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" name="Rectangle 80">
            <a:extLst>
              <a:ext uri="{FF2B5EF4-FFF2-40B4-BE49-F238E27FC236}">
                <a16:creationId xmlns:a16="http://schemas.microsoft.com/office/drawing/2014/main" id="{91E79E2D-24DB-C340-9179-1CA49A455787}"/>
              </a:ext>
            </a:extLst>
          </p:cNvPr>
          <p:cNvSpPr txBox="1"/>
          <p:nvPr/>
        </p:nvSpPr>
        <p:spPr>
          <a:xfrm>
            <a:off x="5736523" y="5729032"/>
            <a:ext cx="939706" cy="437004"/>
          </a:xfrm>
          <a:prstGeom prst="rect">
            <a:avLst/>
          </a:prstGeom>
          <a:ln w="12700">
            <a:miter lim="400000"/>
          </a:ln>
        </p:spPr>
        <p:txBody>
          <a:bodyPr wrap="none" lIns="109709" tIns="109709" rIns="109709" bIns="109709">
            <a:spAutoFit/>
          </a:bodyPr>
          <a:lstStyle>
            <a:lvl1pPr algn="r">
              <a:defRPr sz="1400" b="1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广场页面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" name="Straight Connector 137">
            <a:extLst>
              <a:ext uri="{FF2B5EF4-FFF2-40B4-BE49-F238E27FC236}">
                <a16:creationId xmlns:a16="http://schemas.microsoft.com/office/drawing/2014/main" id="{0CAD82A5-F6FF-1E4F-AF10-0F62EBF1D7FC}"/>
              </a:ext>
            </a:extLst>
          </p:cNvPr>
          <p:cNvSpPr/>
          <p:nvPr/>
        </p:nvSpPr>
        <p:spPr>
          <a:xfrm flipH="1">
            <a:off x="4969023" y="1698455"/>
            <a:ext cx="1" cy="3390030"/>
          </a:xfrm>
          <a:prstGeom prst="line">
            <a:avLst/>
          </a:prstGeom>
          <a:ln w="28575">
            <a:solidFill>
              <a:srgbClr val="D9D9D9"/>
            </a:solidFill>
            <a:prstDash val="sysDot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1F7D31-E000-154D-89D8-C8AC913DEAEF}"/>
              </a:ext>
            </a:extLst>
          </p:cNvPr>
          <p:cNvSpPr txBox="1"/>
          <p:nvPr/>
        </p:nvSpPr>
        <p:spPr>
          <a:xfrm>
            <a:off x="947021" y="2150694"/>
            <a:ext cx="3358612" cy="1023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核心功能完成率在</a:t>
            </a:r>
            <a:r>
              <a:rPr kumimoji="1" lang="en-US" altLang="zh-CN" sz="1400" spc="3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</a:t>
            </a:r>
            <a:r>
              <a:rPr kumimoji="1" lang="zh-CN" altLang="en-US" sz="14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以上。</a:t>
            </a:r>
            <a:endParaRPr kumimoji="1" lang="en-US" altLang="zh-CN" sz="1400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实现聊天、匿名等</a:t>
            </a:r>
            <a:r>
              <a:rPr kumimoji="1" lang="zh-CN" altLang="en-US" sz="1400" spc="3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特色功能</a:t>
            </a:r>
            <a:r>
              <a:rPr kumimoji="1" lang="zh-CN" altLang="en-US" sz="14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400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界面更加</a:t>
            </a:r>
            <a:r>
              <a:rPr kumimoji="1" lang="zh-CN" altLang="en-US" sz="1400" spc="3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美观</a:t>
            </a:r>
            <a:r>
              <a:rPr kumimoji="1" lang="zh-CN" altLang="en-US" sz="14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9A3FC6-C031-574C-A1FA-974022297079}"/>
              </a:ext>
            </a:extLst>
          </p:cNvPr>
          <p:cNvSpPr/>
          <p:nvPr/>
        </p:nvSpPr>
        <p:spPr>
          <a:xfrm>
            <a:off x="921781" y="1657594"/>
            <a:ext cx="1800493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计划完成情况</a:t>
            </a:r>
            <a:endParaRPr kumimoji="1" lang="en-US" altLang="zh-CN" b="1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73C4914-3846-5448-8F8E-0863BB2A618E}"/>
              </a:ext>
            </a:extLst>
          </p:cNvPr>
          <p:cNvSpPr txBox="1"/>
          <p:nvPr/>
        </p:nvSpPr>
        <p:spPr>
          <a:xfrm>
            <a:off x="947021" y="4327972"/>
            <a:ext cx="2848857" cy="700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4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iOS</a:t>
            </a:r>
            <a:r>
              <a:rPr kumimoji="1" lang="zh-CN" altLang="en-US" sz="14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不支持分享到朋友圈</a:t>
            </a:r>
            <a:endParaRPr kumimoji="1" lang="en-US" altLang="zh-CN" sz="1400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熟悉度区分无意义</a:t>
            </a:r>
            <a:endParaRPr kumimoji="1" lang="en-US" altLang="zh-CN" sz="1400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C7B7638-DC23-484B-B1DB-68427563D8CB}"/>
              </a:ext>
            </a:extLst>
          </p:cNvPr>
          <p:cNvSpPr/>
          <p:nvPr/>
        </p:nvSpPr>
        <p:spPr>
          <a:xfrm>
            <a:off x="921781" y="3834872"/>
            <a:ext cx="1800493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spc="3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功能变化说明</a:t>
            </a:r>
            <a:endParaRPr kumimoji="1" lang="en-US" altLang="zh-CN" b="1" spc="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1626DE-B766-0B43-BB0A-8CA3329B3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22" y="741974"/>
            <a:ext cx="2173508" cy="47414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4D6576D-0D73-5A4E-96F1-BBD0AB820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456" y="741974"/>
            <a:ext cx="2208101" cy="47571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9BB0E95-F219-E24A-8090-3D2C1B825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3709" y="691726"/>
            <a:ext cx="2211575" cy="4791744"/>
          </a:xfrm>
          <a:prstGeom prst="rect">
            <a:avLst/>
          </a:prstGeom>
        </p:spPr>
      </p:pic>
      <p:sp>
        <p:nvSpPr>
          <p:cNvPr id="19" name="Rectangle 80">
            <a:extLst>
              <a:ext uri="{FF2B5EF4-FFF2-40B4-BE49-F238E27FC236}">
                <a16:creationId xmlns:a16="http://schemas.microsoft.com/office/drawing/2014/main" id="{80D82EF7-327C-2B47-96F5-200358054093}"/>
              </a:ext>
            </a:extLst>
          </p:cNvPr>
          <p:cNvSpPr txBox="1"/>
          <p:nvPr/>
        </p:nvSpPr>
        <p:spPr>
          <a:xfrm>
            <a:off x="8106653" y="5724520"/>
            <a:ext cx="939706" cy="437004"/>
          </a:xfrm>
          <a:prstGeom prst="rect">
            <a:avLst/>
          </a:prstGeom>
          <a:ln w="12700">
            <a:miter lim="400000"/>
          </a:ln>
        </p:spPr>
        <p:txBody>
          <a:bodyPr wrap="none" lIns="109709" tIns="109709" rIns="109709" bIns="109709">
            <a:spAutoFit/>
          </a:bodyPr>
          <a:lstStyle>
            <a:lvl1pPr algn="r">
              <a:defRPr sz="1400" b="1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活动页面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0" name="Rectangle 80">
            <a:extLst>
              <a:ext uri="{FF2B5EF4-FFF2-40B4-BE49-F238E27FC236}">
                <a16:creationId xmlns:a16="http://schemas.microsoft.com/office/drawing/2014/main" id="{F1674571-7C9B-A042-A481-0F87B6D96816}"/>
              </a:ext>
            </a:extLst>
          </p:cNvPr>
          <p:cNvSpPr txBox="1"/>
          <p:nvPr/>
        </p:nvSpPr>
        <p:spPr>
          <a:xfrm>
            <a:off x="10476783" y="5753630"/>
            <a:ext cx="939706" cy="437004"/>
          </a:xfrm>
          <a:prstGeom prst="rect">
            <a:avLst/>
          </a:prstGeom>
          <a:ln w="12700">
            <a:miter lim="400000"/>
          </a:ln>
        </p:spPr>
        <p:txBody>
          <a:bodyPr wrap="none" lIns="109709" tIns="109709" rIns="109709" bIns="109709">
            <a:spAutoFit/>
          </a:bodyPr>
          <a:lstStyle>
            <a:lvl1pPr algn="r">
              <a:defRPr sz="1400" b="1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我的页面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47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707884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6465350" y="2965038"/>
            <a:ext cx="2298063" cy="7078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en-US" sz="4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关键技术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9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1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0FFF76BB-4AD6-B34F-8789-07C6DAFD6960}"/>
              </a:ext>
            </a:extLst>
          </p:cNvPr>
          <p:cNvSpPr txBox="1"/>
          <p:nvPr/>
        </p:nvSpPr>
        <p:spPr>
          <a:xfrm>
            <a:off x="797872" y="611396"/>
            <a:ext cx="3291925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关键技术</a:t>
            </a:r>
            <a:r>
              <a:rPr kumimoji="1" lang="en-US" altLang="zh-CN" b="1" spc="3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——IM</a:t>
            </a:r>
            <a:r>
              <a:rPr kumimoji="1" lang="zh-CN" altLang="en-US" b="1" spc="3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聊天框架</a:t>
            </a:r>
            <a:endParaRPr kumimoji="1" lang="en-US" altLang="zh-CN" b="1" spc="3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 b="1">
                <a:solidFill>
                  <a:srgbClr val="C00000"/>
                </a:solidFill>
              </a:defRPr>
            </a:pP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9CE7E7F0-2D4B-3045-B457-C4A9A4BBF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899228"/>
              </p:ext>
            </p:extLst>
          </p:nvPr>
        </p:nvGraphicFramePr>
        <p:xfrm>
          <a:off x="1218977" y="1463231"/>
          <a:ext cx="9416938" cy="442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8469">
                  <a:extLst>
                    <a:ext uri="{9D8B030D-6E8A-4147-A177-3AD203B41FA5}">
                      <a16:colId xmlns:a16="http://schemas.microsoft.com/office/drawing/2014/main" val="619710741"/>
                    </a:ext>
                  </a:extLst>
                </a:gridCol>
                <a:gridCol w="4708469">
                  <a:extLst>
                    <a:ext uri="{9D8B030D-6E8A-4147-A177-3AD203B41FA5}">
                      <a16:colId xmlns:a16="http://schemas.microsoft.com/office/drawing/2014/main" val="3507030157"/>
                    </a:ext>
                  </a:extLst>
                </a:gridCol>
              </a:tblGrid>
              <a:tr h="66305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需求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技术方案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828631"/>
                  </a:ext>
                </a:extLst>
              </a:tr>
              <a:tr h="143992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不同活动中的同一用户要互相隔离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以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活动</a:t>
                      </a:r>
                      <a:r>
                        <a:rPr lang="en-US" altLang="zh-CN" sz="1400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Id+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用户</a:t>
                      </a:r>
                      <a:r>
                        <a:rPr lang="en-US" altLang="zh-CN" sz="1400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共同作为</a:t>
                      </a:r>
                      <a:r>
                        <a:rPr lang="en-US" altLang="zh-CN" sz="1400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的用户名</a:t>
                      </a:r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进行登陆，在退出详情页后及时登出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04359763"/>
                  </a:ext>
                </a:extLst>
              </a:tr>
              <a:tr h="111080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详情页中聊天记录、未读消息的实时显示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利用</a:t>
                      </a:r>
                      <a:r>
                        <a:rPr lang="en-US" altLang="zh-CN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监听事件</a:t>
                      </a:r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触发对应回调函数维护聊天列表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565301"/>
                  </a:ext>
                </a:extLst>
              </a:tr>
              <a:tr h="120642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在聊天页面中嵌入取匿、确认等功能并实时显示弹窗</a:t>
                      </a: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监听</a:t>
                      </a:r>
                      <a:r>
                        <a:rPr lang="en-US" altLang="zh-CN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中特定消息触发回调函数，更改用户昵称头像等的显示状态</a:t>
                      </a: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271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0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9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1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0FFF76BB-4AD6-B34F-8789-07C6DAFD6960}"/>
              </a:ext>
            </a:extLst>
          </p:cNvPr>
          <p:cNvSpPr txBox="1"/>
          <p:nvPr/>
        </p:nvSpPr>
        <p:spPr>
          <a:xfrm>
            <a:off x="797872" y="611396"/>
            <a:ext cx="3291925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关键技术</a:t>
            </a:r>
            <a:r>
              <a:rPr kumimoji="1" lang="en-US" altLang="zh-CN" b="1" spc="3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——IM</a:t>
            </a:r>
            <a:r>
              <a:rPr kumimoji="1" lang="zh-CN" altLang="en-US" b="1" spc="3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聊天框架</a:t>
            </a:r>
            <a:endParaRPr kumimoji="1" lang="en-US" altLang="zh-CN" b="1" spc="3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 b="1">
                <a:solidFill>
                  <a:srgbClr val="C00000"/>
                </a:solidFill>
              </a:defRPr>
            </a:pP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582635-CC81-C84D-BBCB-F346F2977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305" y="1896689"/>
            <a:ext cx="2207349" cy="8539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690494-2DEE-014B-83F5-788E65C97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72" y="3629855"/>
            <a:ext cx="3770217" cy="1772324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745F4277-9895-EC4B-B384-544F4C09B7C7}"/>
              </a:ext>
            </a:extLst>
          </p:cNvPr>
          <p:cNvCxnSpPr>
            <a:cxnSpLocks/>
          </p:cNvCxnSpPr>
          <p:nvPr/>
        </p:nvCxnSpPr>
        <p:spPr>
          <a:xfrm>
            <a:off x="2559848" y="2914129"/>
            <a:ext cx="0" cy="66906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AF001DEA-8254-A141-81DE-496E65DA6B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464" y="761630"/>
            <a:ext cx="2383254" cy="501164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68F33BF-883F-344C-A307-363585C33F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070" y="761630"/>
            <a:ext cx="2308228" cy="4974067"/>
          </a:xfrm>
          <a:prstGeom prst="rect">
            <a:avLst/>
          </a:prstGeom>
        </p:spPr>
      </p:pic>
      <p:sp>
        <p:nvSpPr>
          <p:cNvPr id="12" name="Rectangle 80">
            <a:extLst>
              <a:ext uri="{FF2B5EF4-FFF2-40B4-BE49-F238E27FC236}">
                <a16:creationId xmlns:a16="http://schemas.microsoft.com/office/drawing/2014/main" id="{1BC93331-A241-E24B-9FDD-5A1A1E09C769}"/>
              </a:ext>
            </a:extLst>
          </p:cNvPr>
          <p:cNvSpPr txBox="1"/>
          <p:nvPr/>
        </p:nvSpPr>
        <p:spPr>
          <a:xfrm>
            <a:off x="5683238" y="5883807"/>
            <a:ext cx="939706" cy="437004"/>
          </a:xfrm>
          <a:prstGeom prst="rect">
            <a:avLst/>
          </a:prstGeom>
          <a:ln w="12700">
            <a:miter lim="400000"/>
          </a:ln>
        </p:spPr>
        <p:txBody>
          <a:bodyPr wrap="none" lIns="109709" tIns="109709" rIns="109709" bIns="109709">
            <a:spAutoFit/>
          </a:bodyPr>
          <a:lstStyle>
            <a:lvl1pPr algn="r">
              <a:defRPr sz="1400" b="1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聊天页面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Rectangle 80">
            <a:extLst>
              <a:ext uri="{FF2B5EF4-FFF2-40B4-BE49-F238E27FC236}">
                <a16:creationId xmlns:a16="http://schemas.microsoft.com/office/drawing/2014/main" id="{C9EAF73C-9501-4742-86CB-700279EE7822}"/>
              </a:ext>
            </a:extLst>
          </p:cNvPr>
          <p:cNvSpPr txBox="1"/>
          <p:nvPr/>
        </p:nvSpPr>
        <p:spPr>
          <a:xfrm>
            <a:off x="8734026" y="5883807"/>
            <a:ext cx="1478315" cy="437004"/>
          </a:xfrm>
          <a:prstGeom prst="rect">
            <a:avLst/>
          </a:prstGeom>
          <a:ln w="12700">
            <a:miter lim="400000"/>
          </a:ln>
        </p:spPr>
        <p:txBody>
          <a:bodyPr wrap="none" lIns="109709" tIns="109709" rIns="109709" bIns="109709">
            <a:spAutoFit/>
          </a:bodyPr>
          <a:lstStyle>
            <a:lvl1pPr algn="r">
              <a:defRPr sz="1400" b="1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发布者详情页面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67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707884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6465344" y="2965038"/>
            <a:ext cx="2298063" cy="7078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需求汇总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2862320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需求汇总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主要功能需求</a:t>
            </a: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288067" y="3567433"/>
            <a:ext cx="4450729" cy="956998"/>
            <a:chOff x="1461501" y="4043702"/>
            <a:chExt cx="4450729" cy="956998"/>
          </a:xfrm>
        </p:grpSpPr>
        <p:sp>
          <p:nvSpPr>
            <p:cNvPr id="455" name="TextBox 7"/>
            <p:cNvSpPr txBox="1"/>
            <p:nvPr/>
          </p:nvSpPr>
          <p:spPr>
            <a:xfrm>
              <a:off x="1461501" y="4494189"/>
              <a:ext cx="4450729" cy="506511"/>
            </a:xfrm>
            <a:prstGeom prst="rect">
              <a:avLst/>
            </a:prstGeom>
            <a:ln w="12700">
              <a:miter lim="400000"/>
            </a:ln>
          </p:spPr>
          <p:txBody>
            <a:bodyPr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缓解</a:t>
              </a:r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社交尴尬</a:t>
              </a:r>
              <a:endParaRPr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461501" y="4043702"/>
              <a:ext cx="4270709" cy="498564"/>
              <a:chOff x="1368194" y="2572599"/>
              <a:chExt cx="4270709" cy="498564"/>
            </a:xfrm>
          </p:grpSpPr>
          <p:sp>
            <p:nvSpPr>
              <p:cNvPr id="27" name="Rectangle 80"/>
              <p:cNvSpPr txBox="1"/>
              <p:nvPr/>
            </p:nvSpPr>
            <p:spPr>
              <a:xfrm>
                <a:off x="1368194" y="2572599"/>
                <a:ext cx="2299053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匿名与双向确认机制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1644896" y="3561280"/>
            <a:ext cx="4628149" cy="963151"/>
            <a:chOff x="1461501" y="3050580"/>
            <a:chExt cx="4628149" cy="963151"/>
          </a:xfrm>
        </p:grpSpPr>
        <p:grpSp>
          <p:nvGrpSpPr>
            <p:cNvPr id="23" name="组合 22"/>
            <p:cNvGrpSpPr/>
            <p:nvPr/>
          </p:nvGrpSpPr>
          <p:grpSpPr>
            <a:xfrm>
              <a:off x="1461501" y="3050580"/>
              <a:ext cx="4270709" cy="498564"/>
              <a:chOff x="1368194" y="2572599"/>
              <a:chExt cx="4270709" cy="498564"/>
            </a:xfrm>
          </p:grpSpPr>
          <p:sp>
            <p:nvSpPr>
              <p:cNvPr id="24" name="Rectangle 80"/>
              <p:cNvSpPr txBox="1"/>
              <p:nvPr/>
            </p:nvSpPr>
            <p:spPr>
              <a:xfrm>
                <a:off x="1368194" y="2572599"/>
                <a:ext cx="2529885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活动报名、确认与取消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9" name="TextBox 7"/>
            <p:cNvSpPr txBox="1"/>
            <p:nvPr/>
          </p:nvSpPr>
          <p:spPr>
            <a:xfrm>
              <a:off x="1461501" y="3507092"/>
              <a:ext cx="4628149" cy="50663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线下运动活动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约定与开展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651182" y="2289857"/>
            <a:ext cx="4628149" cy="932097"/>
            <a:chOff x="1461501" y="1942051"/>
            <a:chExt cx="4628149" cy="932097"/>
          </a:xfrm>
        </p:grpSpPr>
        <p:grpSp>
          <p:nvGrpSpPr>
            <p:cNvPr id="7" name="组合 6"/>
            <p:cNvGrpSpPr/>
            <p:nvPr/>
          </p:nvGrpSpPr>
          <p:grpSpPr>
            <a:xfrm>
              <a:off x="1461501" y="1942051"/>
              <a:ext cx="4270709" cy="498564"/>
              <a:chOff x="1368194" y="2572599"/>
              <a:chExt cx="4270709" cy="498564"/>
            </a:xfrm>
          </p:grpSpPr>
          <p:sp>
            <p:nvSpPr>
              <p:cNvPr id="454" name="Rectangle 80"/>
              <p:cNvSpPr txBox="1"/>
              <p:nvPr/>
            </p:nvSpPr>
            <p:spPr>
              <a:xfrm>
                <a:off x="1368194" y="2572599"/>
                <a:ext cx="2529885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活动发布、展示与搜索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56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30" name="TextBox 7"/>
            <p:cNvSpPr txBox="1"/>
            <p:nvPr/>
          </p:nvSpPr>
          <p:spPr>
            <a:xfrm>
              <a:off x="1461501" y="2367637"/>
              <a:ext cx="4628149" cy="50651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运动活动信息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流动的平台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7E5A7CA-7638-4E77-95C1-EFFF0D3A86E7}"/>
              </a:ext>
            </a:extLst>
          </p:cNvPr>
          <p:cNvGrpSpPr/>
          <p:nvPr/>
        </p:nvGrpSpPr>
        <p:grpSpPr>
          <a:xfrm>
            <a:off x="2301350" y="5071222"/>
            <a:ext cx="2257933" cy="1286848"/>
            <a:chOff x="7672438" y="2530240"/>
            <a:chExt cx="3282539" cy="1581639"/>
          </a:xfrm>
        </p:grpSpPr>
        <p:sp>
          <p:nvSpPr>
            <p:cNvPr id="31" name="TextBox 27">
              <a:extLst>
                <a:ext uri="{FF2B5EF4-FFF2-40B4-BE49-F238E27FC236}">
                  <a16:creationId xmlns:a16="http://schemas.microsoft.com/office/drawing/2014/main" id="{446DFDA0-B844-48A0-907A-1CFD7DB7B5A4}"/>
                </a:ext>
              </a:extLst>
            </p:cNvPr>
            <p:cNvSpPr txBox="1"/>
            <p:nvPr/>
          </p:nvSpPr>
          <p:spPr>
            <a:xfrm>
              <a:off x="8494737" y="2770252"/>
              <a:ext cx="1092605" cy="646331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9" rIns="45719">
              <a:spAutoFit/>
            </a:bodyPr>
            <a:lstStyle>
              <a:lvl1pPr>
                <a:defRPr sz="3600" spc="300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运动</a:t>
              </a:r>
              <a:endPara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" name="直接连接符 32">
              <a:extLst>
                <a:ext uri="{FF2B5EF4-FFF2-40B4-BE49-F238E27FC236}">
                  <a16:creationId xmlns:a16="http://schemas.microsoft.com/office/drawing/2014/main" id="{A40CE8CE-4EC5-4372-8003-F459756CD094}"/>
                </a:ext>
              </a:extLst>
            </p:cNvPr>
            <p:cNvSpPr/>
            <p:nvPr/>
          </p:nvSpPr>
          <p:spPr>
            <a:xfrm flipH="1">
              <a:off x="7672438" y="2647696"/>
              <a:ext cx="388718" cy="326857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" name="直接连接符 33">
              <a:extLst>
                <a:ext uri="{FF2B5EF4-FFF2-40B4-BE49-F238E27FC236}">
                  <a16:creationId xmlns:a16="http://schemas.microsoft.com/office/drawing/2014/main" id="{6CBAFBF3-001A-4EA7-BF94-38DF68F93353}"/>
                </a:ext>
              </a:extLst>
            </p:cNvPr>
            <p:cNvSpPr/>
            <p:nvPr/>
          </p:nvSpPr>
          <p:spPr>
            <a:xfrm flipH="1">
              <a:off x="10300419" y="3139455"/>
              <a:ext cx="654558" cy="53433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" name="直接连接符 35">
              <a:extLst>
                <a:ext uri="{FF2B5EF4-FFF2-40B4-BE49-F238E27FC236}">
                  <a16:creationId xmlns:a16="http://schemas.microsoft.com/office/drawing/2014/main" id="{AFC6211A-F2D1-4B42-9C4E-1B48E7DF4E6D}"/>
                </a:ext>
              </a:extLst>
            </p:cNvPr>
            <p:cNvSpPr/>
            <p:nvPr/>
          </p:nvSpPr>
          <p:spPr>
            <a:xfrm flipH="1">
              <a:off x="10020923" y="2530240"/>
              <a:ext cx="388717" cy="32685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" name="直接连接符 36">
              <a:extLst>
                <a:ext uri="{FF2B5EF4-FFF2-40B4-BE49-F238E27FC236}">
                  <a16:creationId xmlns:a16="http://schemas.microsoft.com/office/drawing/2014/main" id="{43DBB811-141E-4AE6-8E31-0BA5F3DD9528}"/>
                </a:ext>
              </a:extLst>
            </p:cNvPr>
            <p:cNvSpPr/>
            <p:nvPr/>
          </p:nvSpPr>
          <p:spPr>
            <a:xfrm flipH="1">
              <a:off x="7961512" y="3577544"/>
              <a:ext cx="654558" cy="534335"/>
            </a:xfrm>
            <a:prstGeom prst="line">
              <a:avLst/>
            </a:prstGeom>
            <a:ln w="381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EF9840F-77E7-4E88-8C67-BDDEEEBE6C4F}"/>
              </a:ext>
            </a:extLst>
          </p:cNvPr>
          <p:cNvGrpSpPr/>
          <p:nvPr/>
        </p:nvGrpSpPr>
        <p:grpSpPr>
          <a:xfrm>
            <a:off x="7455261" y="5068168"/>
            <a:ext cx="2257933" cy="1286848"/>
            <a:chOff x="7672438" y="2530240"/>
            <a:chExt cx="3282539" cy="1581639"/>
          </a:xfrm>
        </p:grpSpPr>
        <p:sp>
          <p:nvSpPr>
            <p:cNvPr id="37" name="TextBox 27">
              <a:extLst>
                <a:ext uri="{FF2B5EF4-FFF2-40B4-BE49-F238E27FC236}">
                  <a16:creationId xmlns:a16="http://schemas.microsoft.com/office/drawing/2014/main" id="{EA73797E-5F15-4056-9C7F-01A445BCF7F2}"/>
                </a:ext>
              </a:extLst>
            </p:cNvPr>
            <p:cNvSpPr txBox="1"/>
            <p:nvPr/>
          </p:nvSpPr>
          <p:spPr>
            <a:xfrm>
              <a:off x="8246834" y="2770252"/>
              <a:ext cx="1588409" cy="794392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9" rIns="45719">
              <a:spAutoFit/>
            </a:bodyPr>
            <a:lstStyle>
              <a:lvl1pPr>
                <a:defRPr sz="3600" spc="300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社交</a:t>
              </a:r>
              <a:endParaRPr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8" name="直接连接符 32">
              <a:extLst>
                <a:ext uri="{FF2B5EF4-FFF2-40B4-BE49-F238E27FC236}">
                  <a16:creationId xmlns:a16="http://schemas.microsoft.com/office/drawing/2014/main" id="{0A0A528E-2AF1-4E68-A2F1-961412CF6FD6}"/>
                </a:ext>
              </a:extLst>
            </p:cNvPr>
            <p:cNvSpPr/>
            <p:nvPr/>
          </p:nvSpPr>
          <p:spPr>
            <a:xfrm flipH="1">
              <a:off x="7672438" y="2647696"/>
              <a:ext cx="388718" cy="326857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9" name="直接连接符 33">
              <a:extLst>
                <a:ext uri="{FF2B5EF4-FFF2-40B4-BE49-F238E27FC236}">
                  <a16:creationId xmlns:a16="http://schemas.microsoft.com/office/drawing/2014/main" id="{6900932B-A07D-472E-934C-E8370BF23CD0}"/>
                </a:ext>
              </a:extLst>
            </p:cNvPr>
            <p:cNvSpPr/>
            <p:nvPr/>
          </p:nvSpPr>
          <p:spPr>
            <a:xfrm flipH="1">
              <a:off x="10300419" y="3139455"/>
              <a:ext cx="654558" cy="53433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0" name="直接连接符 35">
              <a:extLst>
                <a:ext uri="{FF2B5EF4-FFF2-40B4-BE49-F238E27FC236}">
                  <a16:creationId xmlns:a16="http://schemas.microsoft.com/office/drawing/2014/main" id="{E640912F-D91C-4A18-B084-0D76961491F3}"/>
                </a:ext>
              </a:extLst>
            </p:cNvPr>
            <p:cNvSpPr/>
            <p:nvPr/>
          </p:nvSpPr>
          <p:spPr>
            <a:xfrm flipH="1">
              <a:off x="10020923" y="2530240"/>
              <a:ext cx="388717" cy="32685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直接连接符 36">
              <a:extLst>
                <a:ext uri="{FF2B5EF4-FFF2-40B4-BE49-F238E27FC236}">
                  <a16:creationId xmlns:a16="http://schemas.microsoft.com/office/drawing/2014/main" id="{1E5E9336-A957-4350-9CA8-3026B3FAB483}"/>
                </a:ext>
              </a:extLst>
            </p:cNvPr>
            <p:cNvSpPr/>
            <p:nvPr/>
          </p:nvSpPr>
          <p:spPr>
            <a:xfrm flipH="1">
              <a:off x="7961512" y="3577544"/>
              <a:ext cx="654558" cy="534335"/>
            </a:xfrm>
            <a:prstGeom prst="line">
              <a:avLst/>
            </a:prstGeom>
            <a:ln w="381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4EB46EDB-A079-49E6-BE2C-404B17F554D7}"/>
              </a:ext>
            </a:extLst>
          </p:cNvPr>
          <p:cNvGrpSpPr/>
          <p:nvPr/>
        </p:nvGrpSpPr>
        <p:grpSpPr>
          <a:xfrm>
            <a:off x="6273045" y="2292911"/>
            <a:ext cx="4628149" cy="963151"/>
            <a:chOff x="1461501" y="3050580"/>
            <a:chExt cx="4628149" cy="963151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7A1C0D40-7760-493E-82A8-99C2C1BCB67F}"/>
                </a:ext>
              </a:extLst>
            </p:cNvPr>
            <p:cNvGrpSpPr/>
            <p:nvPr/>
          </p:nvGrpSpPr>
          <p:grpSpPr>
            <a:xfrm>
              <a:off x="1461501" y="3050580"/>
              <a:ext cx="4270709" cy="498564"/>
              <a:chOff x="1368194" y="2572599"/>
              <a:chExt cx="4270709" cy="498564"/>
            </a:xfrm>
          </p:grpSpPr>
          <p:sp>
            <p:nvSpPr>
              <p:cNvPr id="60" name="Rectangle 80">
                <a:extLst>
                  <a:ext uri="{FF2B5EF4-FFF2-40B4-BE49-F238E27FC236}">
                    <a16:creationId xmlns:a16="http://schemas.microsoft.com/office/drawing/2014/main" id="{9AE9AE84-619B-476A-9BCD-F5C2C08B8B2C}"/>
                  </a:ext>
                </a:extLst>
              </p:cNvPr>
              <p:cNvSpPr txBox="1"/>
              <p:nvPr/>
            </p:nvSpPr>
            <p:spPr>
              <a:xfrm>
                <a:off x="1368194" y="2572599"/>
                <a:ext cx="1837388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即时沟通与交流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61" name="直接连接符 23">
                <a:extLst>
                  <a:ext uri="{FF2B5EF4-FFF2-40B4-BE49-F238E27FC236}">
                    <a16:creationId xmlns:a16="http://schemas.microsoft.com/office/drawing/2014/main" id="{3BED6E43-8E10-4116-8F65-77F28714E159}"/>
                  </a:ext>
                </a:extLst>
              </p:cNvPr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59" name="TextBox 7">
              <a:extLst>
                <a:ext uri="{FF2B5EF4-FFF2-40B4-BE49-F238E27FC236}">
                  <a16:creationId xmlns:a16="http://schemas.microsoft.com/office/drawing/2014/main" id="{E04E2AE6-3064-4DDC-A6C2-6B9BCE4C9698}"/>
                </a:ext>
              </a:extLst>
            </p:cNvPr>
            <p:cNvSpPr txBox="1"/>
            <p:nvPr/>
          </p:nvSpPr>
          <p:spPr>
            <a:xfrm>
              <a:off x="1461501" y="3507092"/>
              <a:ext cx="4628149" cy="50663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沟通意向，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找到最适合的运动伙伴</a:t>
              </a:r>
            </a:p>
          </p:txBody>
        </p:sp>
      </p:grpSp>
      <p:sp>
        <p:nvSpPr>
          <p:cNvPr id="62" name="矩形 3">
            <a:extLst>
              <a:ext uri="{FF2B5EF4-FFF2-40B4-BE49-F238E27FC236}">
                <a16:creationId xmlns:a16="http://schemas.microsoft.com/office/drawing/2014/main" id="{514AEDA3-D15F-4707-A0AC-77C0B0DD2C42}"/>
              </a:ext>
            </a:extLst>
          </p:cNvPr>
          <p:cNvSpPr txBox="1"/>
          <p:nvPr/>
        </p:nvSpPr>
        <p:spPr>
          <a:xfrm>
            <a:off x="3427383" y="1418988"/>
            <a:ext cx="5324533" cy="46166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一个具有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社交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属性的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运动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活动信息平台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61414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2573779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需求汇总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非功能需求</a:t>
            </a: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301790" y="1437240"/>
            <a:ext cx="4628149" cy="963151"/>
            <a:chOff x="1461501" y="3050580"/>
            <a:chExt cx="4628149" cy="963151"/>
          </a:xfrm>
        </p:grpSpPr>
        <p:grpSp>
          <p:nvGrpSpPr>
            <p:cNvPr id="23" name="组合 22"/>
            <p:cNvGrpSpPr/>
            <p:nvPr/>
          </p:nvGrpSpPr>
          <p:grpSpPr>
            <a:xfrm>
              <a:off x="1461501" y="3050580"/>
              <a:ext cx="4270709" cy="498564"/>
              <a:chOff x="1368194" y="2572599"/>
              <a:chExt cx="4270709" cy="498564"/>
            </a:xfrm>
          </p:grpSpPr>
          <p:sp>
            <p:nvSpPr>
              <p:cNvPr id="24" name="Rectangle 80"/>
              <p:cNvSpPr txBox="1"/>
              <p:nvPr/>
            </p:nvSpPr>
            <p:spPr>
              <a:xfrm>
                <a:off x="1368194" y="2572599"/>
                <a:ext cx="2760717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界面简洁明快、易于使用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9" name="TextBox 7"/>
            <p:cNvSpPr txBox="1"/>
            <p:nvPr/>
          </p:nvSpPr>
          <p:spPr>
            <a:xfrm>
              <a:off x="1461501" y="3507092"/>
              <a:ext cx="4628149" cy="50663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专注于核心功能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——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约运动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20965" y="2993645"/>
            <a:ext cx="4628149" cy="932225"/>
            <a:chOff x="1461501" y="1942051"/>
            <a:chExt cx="4628149" cy="932225"/>
          </a:xfrm>
        </p:grpSpPr>
        <p:grpSp>
          <p:nvGrpSpPr>
            <p:cNvPr id="7" name="组合 6"/>
            <p:cNvGrpSpPr/>
            <p:nvPr/>
          </p:nvGrpSpPr>
          <p:grpSpPr>
            <a:xfrm>
              <a:off x="1461501" y="1942051"/>
              <a:ext cx="4270709" cy="498565"/>
              <a:chOff x="1368194" y="2572599"/>
              <a:chExt cx="4270709" cy="498565"/>
            </a:xfrm>
          </p:grpSpPr>
          <p:sp>
            <p:nvSpPr>
              <p:cNvPr id="454" name="Rectangle 80"/>
              <p:cNvSpPr txBox="1"/>
              <p:nvPr/>
            </p:nvSpPr>
            <p:spPr>
              <a:xfrm>
                <a:off x="1368194" y="2572599"/>
                <a:ext cx="1375723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聊天即时性</a:t>
                </a:r>
                <a:endParaRPr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56" name="直接连接符 23"/>
              <p:cNvSpPr/>
              <p:nvPr/>
            </p:nvSpPr>
            <p:spPr>
              <a:xfrm>
                <a:off x="1662818" y="3064696"/>
                <a:ext cx="3976085" cy="6468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30" name="TextBox 7"/>
            <p:cNvSpPr txBox="1"/>
            <p:nvPr/>
          </p:nvSpPr>
          <p:spPr>
            <a:xfrm>
              <a:off x="1461501" y="2367637"/>
              <a:ext cx="4628149" cy="50663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畅快沟通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4EB46EDB-A079-49E6-BE2C-404B17F554D7}"/>
              </a:ext>
            </a:extLst>
          </p:cNvPr>
          <p:cNvGrpSpPr/>
          <p:nvPr/>
        </p:nvGrpSpPr>
        <p:grpSpPr>
          <a:xfrm>
            <a:off x="2301790" y="4585634"/>
            <a:ext cx="4628149" cy="963151"/>
            <a:chOff x="1461501" y="3050580"/>
            <a:chExt cx="4628149" cy="963151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7A1C0D40-7760-493E-82A8-99C2C1BCB67F}"/>
                </a:ext>
              </a:extLst>
            </p:cNvPr>
            <p:cNvGrpSpPr/>
            <p:nvPr/>
          </p:nvGrpSpPr>
          <p:grpSpPr>
            <a:xfrm>
              <a:off x="1461501" y="3050580"/>
              <a:ext cx="4270709" cy="498564"/>
              <a:chOff x="1368194" y="2572599"/>
              <a:chExt cx="4270709" cy="498564"/>
            </a:xfrm>
          </p:grpSpPr>
          <p:sp>
            <p:nvSpPr>
              <p:cNvPr id="60" name="Rectangle 80">
                <a:extLst>
                  <a:ext uri="{FF2B5EF4-FFF2-40B4-BE49-F238E27FC236}">
                    <a16:creationId xmlns:a16="http://schemas.microsoft.com/office/drawing/2014/main" id="{9AE9AE84-619B-476A-9BCD-F5C2C08B8B2C}"/>
                  </a:ext>
                </a:extLst>
              </p:cNvPr>
              <p:cNvSpPr txBox="1"/>
              <p:nvPr/>
            </p:nvSpPr>
            <p:spPr>
              <a:xfrm>
                <a:off x="1368194" y="2572599"/>
                <a:ext cx="1606555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后端响应速度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61" name="直接连接符 23">
                <a:extLst>
                  <a:ext uri="{FF2B5EF4-FFF2-40B4-BE49-F238E27FC236}">
                    <a16:creationId xmlns:a16="http://schemas.microsoft.com/office/drawing/2014/main" id="{3BED6E43-8E10-4116-8F65-77F28714E159}"/>
                  </a:ext>
                </a:extLst>
              </p:cNvPr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59" name="TextBox 7">
              <a:extLst>
                <a:ext uri="{FF2B5EF4-FFF2-40B4-BE49-F238E27FC236}">
                  <a16:creationId xmlns:a16="http://schemas.microsoft.com/office/drawing/2014/main" id="{E04E2AE6-3064-4DDC-A6C2-6B9BCE4C9698}"/>
                </a:ext>
              </a:extLst>
            </p:cNvPr>
            <p:cNvSpPr txBox="1"/>
            <p:nvPr/>
          </p:nvSpPr>
          <p:spPr>
            <a:xfrm>
              <a:off x="1461501" y="3507092"/>
              <a:ext cx="4628149" cy="50663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减少用户等待时间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9D6A38AD-F8C0-4F29-9200-733BCA7FE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711" y="2882605"/>
            <a:ext cx="1219200" cy="1219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A7FFBB-4912-439B-9FFF-6F8BC8007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474" y="4457610"/>
            <a:ext cx="1219200" cy="12192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98E18F0-0BC1-4C27-9EC9-7B5FF9E25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474" y="1266942"/>
            <a:ext cx="1337716" cy="133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59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707884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5086762" y="2965038"/>
            <a:ext cx="5055228" cy="7078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任务分工与过程管理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937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357405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任务分工与过程管理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-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任务分工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ADF4B9F0-5A84-4B61-AFBC-F23566053F82}"/>
              </a:ext>
            </a:extLst>
          </p:cNvPr>
          <p:cNvSpPr txBox="1"/>
          <p:nvPr/>
        </p:nvSpPr>
        <p:spPr>
          <a:xfrm>
            <a:off x="1678424" y="2155371"/>
            <a:ext cx="2773378" cy="45871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前端界面和交互逻辑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547FBBF8-F25F-46D8-91F6-5CE16FD0C5E6}"/>
              </a:ext>
            </a:extLst>
          </p:cNvPr>
          <p:cNvSpPr txBox="1"/>
          <p:nvPr/>
        </p:nvSpPr>
        <p:spPr>
          <a:xfrm>
            <a:off x="5295387" y="2155371"/>
            <a:ext cx="2952329" cy="45871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后端及聊天相关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" name="直接连接符 10">
            <a:extLst>
              <a:ext uri="{FF2B5EF4-FFF2-40B4-BE49-F238E27FC236}">
                <a16:creationId xmlns:a16="http://schemas.microsoft.com/office/drawing/2014/main" id="{5398BB96-728A-4800-96DC-C795A3698E70}"/>
              </a:ext>
            </a:extLst>
          </p:cNvPr>
          <p:cNvSpPr/>
          <p:nvPr/>
        </p:nvSpPr>
        <p:spPr>
          <a:xfrm>
            <a:off x="7963565" y="2825347"/>
            <a:ext cx="0" cy="173974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6" name="直接连接符 18">
            <a:extLst>
              <a:ext uri="{FF2B5EF4-FFF2-40B4-BE49-F238E27FC236}">
                <a16:creationId xmlns:a16="http://schemas.microsoft.com/office/drawing/2014/main" id="{DCAC6669-504E-4EAE-9AC3-E041AFA6B958}"/>
              </a:ext>
            </a:extLst>
          </p:cNvPr>
          <p:cNvSpPr/>
          <p:nvPr/>
        </p:nvSpPr>
        <p:spPr>
          <a:xfrm flipH="1">
            <a:off x="4539175" y="2825347"/>
            <a:ext cx="6083" cy="1739742"/>
          </a:xfrm>
          <a:prstGeom prst="line">
            <a:avLst/>
          </a:prstGeom>
          <a:ln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7" name="TextBox 6">
            <a:extLst>
              <a:ext uri="{FF2B5EF4-FFF2-40B4-BE49-F238E27FC236}">
                <a16:creationId xmlns:a16="http://schemas.microsoft.com/office/drawing/2014/main" id="{0587F8F5-2F8F-47F0-8137-97D3A772EA47}"/>
              </a:ext>
            </a:extLst>
          </p:cNvPr>
          <p:cNvSpPr txBox="1"/>
          <p:nvPr/>
        </p:nvSpPr>
        <p:spPr>
          <a:xfrm>
            <a:off x="9078707" y="2155371"/>
            <a:ext cx="2844338" cy="45871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测试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5303D7-05F0-441C-BE78-F9A66B0756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980" y="3110464"/>
            <a:ext cx="900000" cy="90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2B8F08-5FDA-4A6A-B945-700DD2348D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761" y="3110464"/>
            <a:ext cx="900000" cy="90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1E67C10-8C67-4DE9-8438-1FE4108F18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301" y="3110464"/>
            <a:ext cx="900000" cy="90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AA70EEE-BEB1-4E0E-87F8-6F70521499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455" y="3110464"/>
            <a:ext cx="900000" cy="900000"/>
          </a:xfrm>
          <a:prstGeom prst="rect">
            <a:avLst/>
          </a:prstGeom>
        </p:spPr>
      </p:pic>
      <p:sp>
        <p:nvSpPr>
          <p:cNvPr id="55" name="TextBox 6">
            <a:extLst>
              <a:ext uri="{FF2B5EF4-FFF2-40B4-BE49-F238E27FC236}">
                <a16:creationId xmlns:a16="http://schemas.microsoft.com/office/drawing/2014/main" id="{F2A50477-7F6B-40DF-A758-93BCF8AEC786}"/>
              </a:ext>
            </a:extLst>
          </p:cNvPr>
          <p:cNvSpPr txBox="1"/>
          <p:nvPr/>
        </p:nvSpPr>
        <p:spPr>
          <a:xfrm>
            <a:off x="1977728" y="4023998"/>
            <a:ext cx="783252" cy="37728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1400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杨昆达</a:t>
            </a:r>
          </a:p>
        </p:txBody>
      </p:sp>
      <p:sp>
        <p:nvSpPr>
          <p:cNvPr id="63" name="TextBox 6">
            <a:extLst>
              <a:ext uri="{FF2B5EF4-FFF2-40B4-BE49-F238E27FC236}">
                <a16:creationId xmlns:a16="http://schemas.microsoft.com/office/drawing/2014/main" id="{69DD928A-F38A-4B17-B40E-44A0CD9F3D7B}"/>
              </a:ext>
            </a:extLst>
          </p:cNvPr>
          <p:cNvSpPr txBox="1"/>
          <p:nvPr/>
        </p:nvSpPr>
        <p:spPr>
          <a:xfrm>
            <a:off x="3117836" y="4023998"/>
            <a:ext cx="783252" cy="37728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1400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蒋渊丞</a:t>
            </a:r>
          </a:p>
        </p:txBody>
      </p:sp>
      <p:sp>
        <p:nvSpPr>
          <p:cNvPr id="64" name="TextBox 6">
            <a:extLst>
              <a:ext uri="{FF2B5EF4-FFF2-40B4-BE49-F238E27FC236}">
                <a16:creationId xmlns:a16="http://schemas.microsoft.com/office/drawing/2014/main" id="{0BD755C7-DF79-4AEE-AF34-AA35D6088DDA}"/>
              </a:ext>
            </a:extLst>
          </p:cNvPr>
          <p:cNvSpPr txBox="1"/>
          <p:nvPr/>
        </p:nvSpPr>
        <p:spPr>
          <a:xfrm>
            <a:off x="5420765" y="4023998"/>
            <a:ext cx="783252" cy="37728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1400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陈悦</a:t>
            </a:r>
          </a:p>
        </p:txBody>
      </p:sp>
      <p:sp>
        <p:nvSpPr>
          <p:cNvPr id="65" name="TextBox 6">
            <a:extLst>
              <a:ext uri="{FF2B5EF4-FFF2-40B4-BE49-F238E27FC236}">
                <a16:creationId xmlns:a16="http://schemas.microsoft.com/office/drawing/2014/main" id="{912CD5F0-544F-48B5-AA34-976D1D7EB341}"/>
              </a:ext>
            </a:extLst>
          </p:cNvPr>
          <p:cNvSpPr txBox="1"/>
          <p:nvPr/>
        </p:nvSpPr>
        <p:spPr>
          <a:xfrm>
            <a:off x="6584661" y="4023998"/>
            <a:ext cx="783252" cy="37728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1400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张泽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150784FB-4DDC-4032-8A28-1A5A4EE120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905" y="3110464"/>
            <a:ext cx="900000" cy="900000"/>
          </a:xfrm>
          <a:prstGeom prst="rect">
            <a:avLst/>
          </a:prstGeom>
        </p:spPr>
      </p:pic>
      <p:sp>
        <p:nvSpPr>
          <p:cNvPr id="67" name="TextBox 6">
            <a:extLst>
              <a:ext uri="{FF2B5EF4-FFF2-40B4-BE49-F238E27FC236}">
                <a16:creationId xmlns:a16="http://schemas.microsoft.com/office/drawing/2014/main" id="{BA460F33-5E0A-4F64-8A4C-91310B848DF4}"/>
              </a:ext>
            </a:extLst>
          </p:cNvPr>
          <p:cNvSpPr txBox="1"/>
          <p:nvPr/>
        </p:nvSpPr>
        <p:spPr>
          <a:xfrm>
            <a:off x="9016440" y="4023998"/>
            <a:ext cx="783252" cy="37728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1400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蒋渊丞</a:t>
            </a:r>
          </a:p>
        </p:txBody>
      </p:sp>
    </p:spTree>
    <p:extLst>
      <p:ext uri="{BB962C8B-B14F-4D97-AF65-F5344CB8AC3E}">
        <p14:creationId xmlns:p14="http://schemas.microsoft.com/office/powerpoint/2010/main" val="2760561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3554817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任务分工与过程管理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–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过程管理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4D09B0A-7F5A-4938-B38D-962B894791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05" y="4223829"/>
            <a:ext cx="1440000" cy="1440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0286F64-BF9B-4B80-9994-4CC25FCB7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438" y="4223829"/>
            <a:ext cx="1440000" cy="144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1B67EC0-BBC0-4726-B452-71FA3AAA70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372" y="4239384"/>
            <a:ext cx="1440000" cy="1440000"/>
          </a:xfrm>
          <a:prstGeom prst="rect">
            <a:avLst/>
          </a:prstGeom>
        </p:spPr>
      </p:pic>
      <p:sp>
        <p:nvSpPr>
          <p:cNvPr id="25" name="TextBox 6">
            <a:extLst>
              <a:ext uri="{FF2B5EF4-FFF2-40B4-BE49-F238E27FC236}">
                <a16:creationId xmlns:a16="http://schemas.microsoft.com/office/drawing/2014/main" id="{3D4C5FD3-87C3-4070-A550-0C13585972DF}"/>
              </a:ext>
            </a:extLst>
          </p:cNvPr>
          <p:cNvSpPr txBox="1"/>
          <p:nvPr/>
        </p:nvSpPr>
        <p:spPr>
          <a:xfrm>
            <a:off x="5277350" y="5797006"/>
            <a:ext cx="1915109" cy="37728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1400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每周日晚站立会议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87A2FA-B60B-4369-87B0-968C36E83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9650" y="1113905"/>
            <a:ext cx="7200000" cy="2806154"/>
          </a:xfrm>
          <a:prstGeom prst="rect">
            <a:avLst/>
          </a:prstGeom>
        </p:spPr>
      </p:pic>
      <p:sp>
        <p:nvSpPr>
          <p:cNvPr id="28" name="TextBox 6">
            <a:extLst>
              <a:ext uri="{FF2B5EF4-FFF2-40B4-BE49-F238E27FC236}">
                <a16:creationId xmlns:a16="http://schemas.microsoft.com/office/drawing/2014/main" id="{7E6449C5-6BB2-43EA-9AEB-5D1C7201A86F}"/>
              </a:ext>
            </a:extLst>
          </p:cNvPr>
          <p:cNvSpPr txBox="1"/>
          <p:nvPr/>
        </p:nvSpPr>
        <p:spPr>
          <a:xfrm>
            <a:off x="1597793" y="5797007"/>
            <a:ext cx="2878565" cy="37728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1400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Times New Roman" panose="02020603050405020304" pitchFamily="18" charset="0"/>
              </a:rPr>
              <a:t>每周三晚至少</a:t>
            </a:r>
            <a:r>
              <a:rPr lang="en-US" altLang="zh-CN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Times New Roman" panose="02020603050405020304" pitchFamily="18" charset="0"/>
              </a:rPr>
              <a:t>小时集体开发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7F6B98B5-96FD-4540-9AA4-DA8E07A375BA}"/>
              </a:ext>
            </a:extLst>
          </p:cNvPr>
          <p:cNvSpPr txBox="1"/>
          <p:nvPr/>
        </p:nvSpPr>
        <p:spPr>
          <a:xfrm>
            <a:off x="8635395" y="5816447"/>
            <a:ext cx="2172604" cy="37728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1400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会议纪要等文档记录</a:t>
            </a:r>
          </a:p>
        </p:txBody>
      </p:sp>
    </p:spTree>
    <p:extLst>
      <p:ext uri="{BB962C8B-B14F-4D97-AF65-F5344CB8AC3E}">
        <p14:creationId xmlns:p14="http://schemas.microsoft.com/office/powerpoint/2010/main" val="1674237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707884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6465344" y="2965038"/>
            <a:ext cx="2298063" cy="7078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系统演示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111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124649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系统演示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" name="f895b244d16f59e81997fd4614b1c84b">
            <a:hlinkClick r:id="" action="ppaction://media"/>
            <a:extLst>
              <a:ext uri="{FF2B5EF4-FFF2-40B4-BE49-F238E27FC236}">
                <a16:creationId xmlns:a16="http://schemas.microsoft.com/office/drawing/2014/main" id="{A6A9ED1E-50F3-4BFE-9AE4-CDBD30E4B99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15740" y="1"/>
            <a:ext cx="3200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0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12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等腰三角形 23"/>
          <p:cNvSpPr/>
          <p:nvPr/>
        </p:nvSpPr>
        <p:spPr>
          <a:xfrm rot="512239">
            <a:off x="2950001" y="4001625"/>
            <a:ext cx="396046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2" name="等腰三角形 24"/>
          <p:cNvSpPr/>
          <p:nvPr/>
        </p:nvSpPr>
        <p:spPr>
          <a:xfrm rot="20371609">
            <a:off x="2705229" y="3831593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3" name="等腰三角形 26"/>
          <p:cNvSpPr/>
          <p:nvPr/>
        </p:nvSpPr>
        <p:spPr>
          <a:xfrm rot="3761573">
            <a:off x="8496747" y="3872262"/>
            <a:ext cx="741201" cy="508375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16" name="组合 1"/>
          <p:cNvGrpSpPr/>
          <p:nvPr/>
        </p:nvGrpSpPr>
        <p:grpSpPr>
          <a:xfrm>
            <a:off x="-1604504" y="2147666"/>
            <a:ext cx="3687215" cy="2719713"/>
            <a:chOff x="0" y="0"/>
            <a:chExt cx="3687214" cy="2719712"/>
          </a:xfrm>
        </p:grpSpPr>
        <p:sp>
          <p:nvSpPr>
            <p:cNvPr id="214" name="直接连接符 33"/>
            <p:cNvSpPr/>
            <p:nvPr/>
          </p:nvSpPr>
          <p:spPr>
            <a:xfrm flipH="1">
              <a:off x="0" y="539955"/>
              <a:ext cx="2592288" cy="2179757"/>
            </a:xfrm>
            <a:prstGeom prst="lin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直接连接符 34"/>
            <p:cNvSpPr/>
            <p:nvPr/>
          </p:nvSpPr>
          <p:spPr>
            <a:xfrm flipH="1">
              <a:off x="1094926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17" name="TextBox 5"/>
          <p:cNvSpPr txBox="1"/>
          <p:nvPr/>
        </p:nvSpPr>
        <p:spPr>
          <a:xfrm>
            <a:off x="3873613" y="3126404"/>
            <a:ext cx="3876061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/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谢谢</a:t>
            </a:r>
          </a:p>
        </p:txBody>
      </p:sp>
      <p:sp>
        <p:nvSpPr>
          <p:cNvPr id="218" name="等腰三角形 14"/>
          <p:cNvSpPr/>
          <p:nvPr/>
        </p:nvSpPr>
        <p:spPr>
          <a:xfrm rot="512239">
            <a:off x="5834793" y="1926194"/>
            <a:ext cx="396045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9" name="等腰三角形 20"/>
          <p:cNvSpPr/>
          <p:nvPr/>
        </p:nvSpPr>
        <p:spPr>
          <a:xfrm rot="20371609">
            <a:off x="6486079" y="2194279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0" name="等腰三角形 21"/>
          <p:cNvSpPr/>
          <p:nvPr/>
        </p:nvSpPr>
        <p:spPr>
          <a:xfrm rot="20371609">
            <a:off x="5390053" y="2222523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1" name="等腰三角形 22"/>
          <p:cNvSpPr/>
          <p:nvPr/>
        </p:nvSpPr>
        <p:spPr>
          <a:xfrm rot="3761573">
            <a:off x="4756821" y="1830713"/>
            <a:ext cx="741200" cy="508376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2" name="等腰三角形 25"/>
          <p:cNvSpPr/>
          <p:nvPr/>
        </p:nvSpPr>
        <p:spPr>
          <a:xfrm rot="20371609">
            <a:off x="6476787" y="1810735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34" name="组合 2"/>
          <p:cNvGrpSpPr/>
          <p:nvPr/>
        </p:nvGrpSpPr>
        <p:grpSpPr>
          <a:xfrm>
            <a:off x="10311837" y="1544375"/>
            <a:ext cx="3230038" cy="3097814"/>
            <a:chOff x="0" y="0"/>
            <a:chExt cx="3230037" cy="3097813"/>
          </a:xfrm>
        </p:grpSpPr>
        <p:sp>
          <p:nvSpPr>
            <p:cNvPr id="232" name="直接连接符 41"/>
            <p:cNvSpPr/>
            <p:nvPr/>
          </p:nvSpPr>
          <p:spPr>
            <a:xfrm flipH="1">
              <a:off x="0" y="918056"/>
              <a:ext cx="2592289" cy="2179757"/>
            </a:xfrm>
            <a:prstGeom prst="line">
              <a:avLst/>
            </a:prstGeom>
            <a:noFill/>
            <a:ln w="762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直接连接符 42"/>
            <p:cNvSpPr/>
            <p:nvPr/>
          </p:nvSpPr>
          <p:spPr>
            <a:xfrm flipH="1">
              <a:off x="637749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5" name="等腰三角形 43"/>
          <p:cNvSpPr/>
          <p:nvPr/>
        </p:nvSpPr>
        <p:spPr>
          <a:xfrm rot="20371609">
            <a:off x="8890947" y="3709642"/>
            <a:ext cx="198023" cy="170708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457</Words>
  <Application>Microsoft Office PowerPoint</Application>
  <PresentationFormat>自定义</PresentationFormat>
  <Paragraphs>142</Paragraphs>
  <Slides>18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等线</vt:lpstr>
      <vt:lpstr>等线 Light</vt:lpstr>
      <vt:lpstr>微软雅黑</vt:lpstr>
      <vt:lpstr>微软雅黑</vt:lpstr>
      <vt:lpstr>Arial</vt:lpstr>
      <vt:lpstr>Calibri</vt:lpstr>
      <vt:lpstr>Times New Roman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123</dc:creator>
  <cp:lastModifiedBy>CHEN YUE</cp:lastModifiedBy>
  <cp:revision>49</cp:revision>
  <dcterms:created xsi:type="dcterms:W3CDTF">2021-12-08T11:09:28Z</dcterms:created>
  <dcterms:modified xsi:type="dcterms:W3CDTF">2021-12-23T02:39:18Z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044A2BB5125C4311A160979BCF22D06F</vt:lpwstr>
  </property>
  <property fmtid="{D5CDD505-2E9C-101B-9397-08002B2CF9AE}" pid="3" name="KSOProductBuildVer">
    <vt:lpwstr>2052-11.1.0.11194</vt:lpwstr>
  </property>
</Properties>
</file>